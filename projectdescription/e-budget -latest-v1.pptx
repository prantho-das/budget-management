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9" r:id="rId2"/>
    <p:sldId id="257" r:id="rId3"/>
    <p:sldId id="310" r:id="rId4"/>
    <p:sldId id="292" r:id="rId5"/>
    <p:sldId id="300" r:id="rId6"/>
    <p:sldId id="301" r:id="rId7"/>
    <p:sldId id="302" r:id="rId8"/>
    <p:sldId id="303" r:id="rId9"/>
    <p:sldId id="304" r:id="rId10"/>
    <p:sldId id="318" r:id="rId11"/>
    <p:sldId id="315" r:id="rId12"/>
    <p:sldId id="319" r:id="rId13"/>
    <p:sldId id="311" r:id="rId14"/>
    <p:sldId id="321" r:id="rId15"/>
    <p:sldId id="320" r:id="rId16"/>
    <p:sldId id="322" r:id="rId17"/>
    <p:sldId id="316" r:id="rId18"/>
    <p:sldId id="323" r:id="rId19"/>
    <p:sldId id="326" r:id="rId20"/>
    <p:sldId id="327" r:id="rId21"/>
    <p:sldId id="328" r:id="rId22"/>
    <p:sldId id="324" r:id="rId23"/>
    <p:sldId id="329" r:id="rId24"/>
    <p:sldId id="330" r:id="rId25"/>
    <p:sldId id="331" r:id="rId26"/>
    <p:sldId id="332" r:id="rId27"/>
    <p:sldId id="314" r:id="rId28"/>
    <p:sldId id="334" r:id="rId29"/>
    <p:sldId id="267" r:id="rId30"/>
    <p:sldId id="317" r:id="rId31"/>
    <p:sldId id="285" r:id="rId32"/>
    <p:sldId id="276" r:id="rId33"/>
    <p:sldId id="277" r:id="rId34"/>
    <p:sldId id="271" r:id="rId35"/>
    <p:sldId id="283" r:id="rId36"/>
    <p:sldId id="28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68" autoAdjust="0"/>
    <p:restoredTop sz="94352" autoAdjust="0"/>
  </p:normalViewPr>
  <p:slideViewPr>
    <p:cSldViewPr snapToGrid="0">
      <p:cViewPr varScale="1">
        <p:scale>
          <a:sx n="79" d="100"/>
          <a:sy n="79" d="100"/>
        </p:scale>
        <p:origin x="1109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8380D-1102-48B0-B26E-77160B22509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19493-B747-4BEC-A1CC-D56194D06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11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1995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956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934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157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386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7245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8120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191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774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668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2701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29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628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971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5102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1057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55d25f3e98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55d25f3e98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278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9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1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62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55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85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6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38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0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8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0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17157-F4CC-4489-8406-FF9DD446627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F8694-B0BA-4A6E-AD89-5A19B17C0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yperlink/DPVO%20Prakkolon/khulna%20Dvpo%202025-26.pdf" TargetMode="External"/><Relationship Id="rId13" Type="http://schemas.openxmlformats.org/officeDocument/2006/relationships/hyperlink" Target="content/Prakkalon%20RPO.pdf" TargetMode="External"/><Relationship Id="rId3" Type="http://schemas.openxmlformats.org/officeDocument/2006/relationships/hyperlink" Target="hyperlink/DPVO%20Prakkolon/Prakkalon%20Head%20Office.pdf" TargetMode="External"/><Relationship Id="rId7" Type="http://schemas.openxmlformats.org/officeDocument/2006/relationships/hyperlink" Target="hyperlink/DPVO%20Prakkolon/chittagong%202024-28.pdf" TargetMode="External"/><Relationship Id="rId12" Type="http://schemas.openxmlformats.org/officeDocument/2006/relationships/hyperlink" Target="hyperlink/DPVO%20Prakkolon/rangpur%20Prakkalon%202025-26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yperlink/DPVO%20Prakkolon/Dvpo%20dhaka2024-28%20-%20H.Q.pdf" TargetMode="External"/><Relationship Id="rId11" Type="http://schemas.openxmlformats.org/officeDocument/2006/relationships/hyperlink" Target="hyperlink/DPVO%20Prakkolon/Barishal%20Budget%20Proposal.pdf" TargetMode="External"/><Relationship Id="rId5" Type="http://schemas.openxmlformats.org/officeDocument/2006/relationships/hyperlink" Target="hyperlink/DPVO%20Prakkolon/DRC%202024-28%20(1).pdf" TargetMode="External"/><Relationship Id="rId10" Type="http://schemas.openxmlformats.org/officeDocument/2006/relationships/hyperlink" Target="hyperlink/DPVO%20Prakkolon/sylhet%20dvpo%202024-28.pdf" TargetMode="External"/><Relationship Id="rId4" Type="http://schemas.openxmlformats.org/officeDocument/2006/relationships/hyperlink" Target="hyperlink/DPVO%20Prakkolon/D&amp;p%202025-26.pdf" TargetMode="External"/><Relationship Id="rId9" Type="http://schemas.openxmlformats.org/officeDocument/2006/relationships/hyperlink" Target="hyperlink/DPVO%20Prakkolon/Prakkalon%202025-26%20DPVO%20%20RAJSHAHI%20(1).pdf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yperlink/DPVO%20Prakkolon/khulna%20Dvpo%202025-26.pdf" TargetMode="External"/><Relationship Id="rId13" Type="http://schemas.openxmlformats.org/officeDocument/2006/relationships/hyperlink" Target="content/Prakkalon%20RPO.pdf" TargetMode="External"/><Relationship Id="rId3" Type="http://schemas.openxmlformats.org/officeDocument/2006/relationships/hyperlink" Target="hyperlink/DPVO%20Prakkolon/Prakkalon%20Head%20Office.pdf" TargetMode="External"/><Relationship Id="rId7" Type="http://schemas.openxmlformats.org/officeDocument/2006/relationships/hyperlink" Target="hyperlink/DPVO%20Prakkolon/chittagong%202024-28.pdf" TargetMode="External"/><Relationship Id="rId12" Type="http://schemas.openxmlformats.org/officeDocument/2006/relationships/hyperlink" Target="hyperlink/DPVO%20Prakkolon/rangpur%20Prakkalon%202025-26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yperlink/DPVO%20Prakkolon/Dvpo%20dhaka2024-28%20-%20H.Q.pdf" TargetMode="External"/><Relationship Id="rId11" Type="http://schemas.openxmlformats.org/officeDocument/2006/relationships/hyperlink" Target="hyperlink/DPVO%20Prakkolon/Barishal%20Budget%20Proposal.pdf" TargetMode="External"/><Relationship Id="rId5" Type="http://schemas.openxmlformats.org/officeDocument/2006/relationships/hyperlink" Target="hyperlink/DPVO%20Prakkolon/DRC%202024-28%20(1).pdf" TargetMode="External"/><Relationship Id="rId10" Type="http://schemas.openxmlformats.org/officeDocument/2006/relationships/hyperlink" Target="hyperlink/DPVO%20Prakkolon/sylhet%20dvpo%202024-28.pdf" TargetMode="External"/><Relationship Id="rId4" Type="http://schemas.openxmlformats.org/officeDocument/2006/relationships/hyperlink" Target="hyperlink/DPVO%20Prakkolon/D&amp;p%202025-26.pdf" TargetMode="External"/><Relationship Id="rId9" Type="http://schemas.openxmlformats.org/officeDocument/2006/relationships/hyperlink" Target="hyperlink/DPVO%20Prakkolon/Prakkalon%202025-26%20DPVO%20%20RAJSHAHI%20(1).pdf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yperlink/budget_proposal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yperlink/Allotment%20sheet.pdf" TargetMode="External"/><Relationship Id="rId4" Type="http://schemas.openxmlformats.org/officeDocument/2006/relationships/hyperlink" Target="hyperlink/Distribution%20for%20RPO.xl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google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yperlink/Additional%20Budget%20Proposal%20Sent%20by%20RPO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yperlink/RPO%20ADDITIONAL%20allotment%20sheet.pdf" TargetMode="External"/><Relationship Id="rId4" Type="http://schemas.openxmlformats.org/officeDocument/2006/relationships/hyperlink" Target="hyperlink/Distribution%20for%20RPO.xl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google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yperlink/BIP%20D&amp;P.pdf" TargetMode="External"/><Relationship Id="rId2" Type="http://schemas.openxmlformats.org/officeDocument/2006/relationships/hyperlink" Target="hyperlink/BIP%20HQ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yperlink/Surrender%20HQ.pdf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yperlink/Revenue%20Budget%20Preparation.pdf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yperlink/Report%20of%20Revenue%20Sent%20to%20Ministry.pdf" TargetMode="External"/><Relationship Id="rId5" Type="http://schemas.openxmlformats.org/officeDocument/2006/relationships/hyperlink" Target="hyperlink/Revenue%20Budget%20Implementation%20Plan%20&amp;%20Progress%20Report.pdf" TargetMode="External"/><Relationship Id="rId4" Type="http://schemas.openxmlformats.org/officeDocument/2006/relationships/hyperlink" Target="hyperlink/Revised%20Revenue%20Budget%20Preparation.pdf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89224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e-Budget Management System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90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1880" y="338261"/>
            <a:ext cx="4173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Table of Content</a:t>
            </a:r>
            <a:endParaRPr lang="en-US" sz="36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434479" y="1856027"/>
            <a:ext cx="502920" cy="472441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96908" y="1886130"/>
            <a:ext cx="5881778" cy="472441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en-US"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2433406" y="3117793"/>
            <a:ext cx="502920" cy="47244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40468" y="3167437"/>
            <a:ext cx="5838217" cy="472441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Activity Discussion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451918" y="2518027"/>
            <a:ext cx="502920" cy="472441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205626" y="2521607"/>
            <a:ext cx="5873059" cy="472441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Necessity</a:t>
            </a:r>
            <a:r>
              <a:rPr lang="en-US"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en-US"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433406" y="1215971"/>
            <a:ext cx="502920" cy="472441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195823" y="1246074"/>
            <a:ext cx="5882862" cy="47244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e-Budget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anagement System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16812" y="3851158"/>
            <a:ext cx="5803385" cy="472441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 Discussion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2451918" y="3876871"/>
            <a:ext cx="502920" cy="47244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230242" y="4493624"/>
            <a:ext cx="5751455" cy="472441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e-System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33" name="Oval 32"/>
          <p:cNvSpPr/>
          <p:nvPr/>
        </p:nvSpPr>
        <p:spPr>
          <a:xfrm>
            <a:off x="2435188" y="4509921"/>
            <a:ext cx="502920" cy="472441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2443197" y="5776146"/>
            <a:ext cx="502920" cy="472441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05626" y="5806249"/>
            <a:ext cx="5881778" cy="472441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Site Discussion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2442124" y="5136090"/>
            <a:ext cx="502920" cy="472441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04541" y="5166193"/>
            <a:ext cx="5882862" cy="47244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77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 animBg="1"/>
      <p:bldP spid="18" grpId="0" animBg="1"/>
      <p:bldP spid="19" grpId="0" animBg="1"/>
      <p:bldP spid="20" grpId="0" animBg="1"/>
      <p:bldP spid="29" grpId="0" animBg="1"/>
      <p:bldP spid="30" grpId="0" animBg="1"/>
      <p:bldP spid="23" grpId="0" animBg="1"/>
      <p:bldP spid="24" grpId="0" animBg="1"/>
      <p:bldP spid="14" grpId="0" animBg="1"/>
      <p:bldP spid="25" grpId="0" animBg="1"/>
      <p:bldP spid="28" grpId="0" animBg="1"/>
      <p:bldP spid="33" grpId="0" animBg="1"/>
      <p:bldP spid="15" grpId="0" animBg="1"/>
      <p:bldP spid="16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617375" y="332792"/>
            <a:ext cx="1034609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en-US" sz="320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e-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lang="en-US" sz="3200" b="1" spc="-9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1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</a:t>
            </a:r>
            <a:r>
              <a:rPr lang="en-US" sz="320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anagement system</a:t>
            </a:r>
            <a:endParaRPr lang="en-US"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64369" y="1445390"/>
            <a:ext cx="11762790" cy="4946611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e-Budget Management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platform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automate and streamline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preparation, approval, allocation, and monitoring process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Unit Office and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ead Quarter department. It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traditional manual budgeting with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electronic, transparent, and efficient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faster decision-making and better financial control.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system, users can: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and submit budget proposals online.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expenditures in real time.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financial reports automatically.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accuracy, accountability, and transparency in financial operations.</a:t>
            </a:r>
          </a:p>
          <a:p>
            <a:pPr marL="0" indent="0" algn="just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e-Budget Management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efficiency, reduces paperwork, minimizes human error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promotes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governance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ensuring proper utilization of public or organizational funds.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902" y="2668557"/>
            <a:ext cx="3134572" cy="264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9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756309" y="626110"/>
            <a:ext cx="116534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Problem</a:t>
            </a:r>
            <a:r>
              <a:rPr lang="en-US" sz="3200" b="1" spc="-7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statement</a:t>
            </a:r>
            <a:r>
              <a:rPr lang="en-US" sz="3200" b="1" spc="-5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en-US" sz="3200" b="1" spc="-6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existing</a:t>
            </a:r>
            <a:r>
              <a:rPr lang="en-US" sz="3200" b="1" spc="-6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lang="en-US" sz="3200" b="1" spc="-6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process</a:t>
            </a:r>
            <a:endParaRPr lang="en-US"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383085" y="2107065"/>
            <a:ext cx="6791119" cy="3668953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0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All</a:t>
            </a:r>
            <a:r>
              <a:rPr sz="2800" spc="-4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document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</a:t>
            </a:r>
            <a:r>
              <a:rPr sz="2800" spc="-35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are</a:t>
            </a:r>
            <a:r>
              <a:rPr sz="2800" spc="-3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paper</a:t>
            </a:r>
            <a:r>
              <a:rPr sz="2800" b="1" spc="-3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base</a:t>
            </a:r>
            <a:r>
              <a:rPr sz="2800" b="1" spc="-4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sz="2800" spc="-4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prepare</a:t>
            </a:r>
            <a:r>
              <a:rPr sz="2800" spc="-3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by</a:t>
            </a:r>
            <a:r>
              <a:rPr sz="2800" spc="-4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manual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process</a:t>
            </a:r>
            <a:r>
              <a:rPr sz="2800" spc="-5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spc="-5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Collection</a:t>
            </a:r>
            <a:r>
              <a:rPr sz="2800" spc="-4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 budget</a:t>
            </a: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proposal</a:t>
            </a:r>
            <a:r>
              <a:rPr sz="2800" spc="-1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hand</a:t>
            </a:r>
            <a:r>
              <a:rPr sz="2800" b="1" spc="-1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to</a:t>
            </a:r>
            <a:r>
              <a:rPr sz="2800" b="1" spc="-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hand </a:t>
            </a:r>
            <a:endParaRPr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Time</a:t>
            </a:r>
            <a:r>
              <a:rPr sz="2800" spc="-6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consuming</a:t>
            </a:r>
            <a:r>
              <a:rPr sz="2800" spc="-5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.</a:t>
            </a:r>
            <a:endParaRPr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There</a:t>
            </a:r>
            <a:r>
              <a:rPr sz="2800" spc="-4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is</a:t>
            </a:r>
            <a:r>
              <a:rPr sz="2800" spc="-1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scop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sz="2800" spc="-1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spc="-1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mis</a:t>
            </a:r>
            <a:r>
              <a:rPr sz="2800" b="1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</a:t>
            </a:r>
            <a:r>
              <a:rPr sz="2800" spc="-1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information</a:t>
            </a: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Risk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sz="2800" spc="-1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losing</a:t>
            </a:r>
            <a:r>
              <a:rPr sz="2800" b="1" spc="-2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document</a:t>
            </a:r>
            <a:r>
              <a:rPr sz="2800" b="1" spc="-2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any</a:t>
            </a: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kind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accident.</a:t>
            </a:r>
            <a:endParaRPr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191" y="2207154"/>
            <a:ext cx="4494245" cy="324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3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762000"/>
            <a:ext cx="121920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Necessity</a:t>
            </a:r>
            <a:r>
              <a:rPr lang="en-US" sz="3200" b="1" spc="-1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en-US" sz="3200" b="1" spc="-9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e-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lang="en-US" sz="3200" b="1" spc="-9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management system</a:t>
            </a:r>
            <a:endParaRPr lang="en-US"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273700" y="2034070"/>
            <a:ext cx="6270170" cy="3994042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lnSpc>
                <a:spcPct val="100000"/>
              </a:lnSpc>
              <a:spcBef>
                <a:spcPts val="685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It’s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paperless</a:t>
            </a:r>
            <a:r>
              <a:rPr lang="en-US" spc="-5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online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lang="en-US" spc="-4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application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system.</a:t>
            </a:r>
          </a:p>
          <a:p>
            <a:pPr marL="12700" indent="0">
              <a:lnSpc>
                <a:spcPct val="100000"/>
              </a:lnSpc>
              <a:spcBef>
                <a:spcPts val="685"/>
              </a:spcBef>
              <a:buClr>
                <a:srgbClr val="000000"/>
              </a:buClr>
              <a:buSzPct val="79411"/>
              <a:buNone/>
              <a:tabLst>
                <a:tab pos="354965" algn="l"/>
              </a:tabLst>
            </a:pPr>
            <a:endParaRPr lang="en-US" sz="900" spc="-1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Though</a:t>
            </a:r>
            <a:r>
              <a:rPr lang="en-US" spc="-3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it’s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online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application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system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so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applicant</a:t>
            </a:r>
            <a:r>
              <a:rPr lang="en-US" spc="-3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can</a:t>
            </a:r>
            <a:r>
              <a:rPr lang="en-US" spc="-4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access</a:t>
            </a:r>
            <a:r>
              <a:rPr lang="en-US" spc="-4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from</a:t>
            </a:r>
            <a:r>
              <a:rPr lang="en-US" spc="-3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anywhere.</a:t>
            </a:r>
          </a:p>
          <a:p>
            <a:pPr marL="12700" indent="0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79411"/>
              <a:buNone/>
              <a:tabLst>
                <a:tab pos="354965" algn="l"/>
              </a:tabLst>
            </a:pPr>
            <a:endParaRPr lang="en-US" sz="900" spc="-1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Easy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interface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so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that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non-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technical</a:t>
            </a:r>
            <a:r>
              <a:rPr lang="en-US" spc="-3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person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also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can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smoothly.</a:t>
            </a:r>
          </a:p>
          <a:p>
            <a:pPr marL="12700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79411"/>
              <a:buNone/>
              <a:tabLst>
                <a:tab pos="354965" algn="l"/>
              </a:tabLst>
            </a:pPr>
            <a:endParaRPr lang="en-US" sz="900" spc="-1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Automate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preparation.</a:t>
            </a:r>
            <a:endParaRPr lang="en-US" spc="-1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870" y="2034070"/>
            <a:ext cx="5386424" cy="375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7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762000"/>
            <a:ext cx="1219199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Necessity</a:t>
            </a:r>
            <a:r>
              <a:rPr lang="en-US" sz="3200" b="1" spc="-1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en-US" sz="3200" b="1" spc="-9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e-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lang="en-US" sz="3200" b="1" spc="-9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management system</a:t>
            </a:r>
            <a:endParaRPr lang="en-US"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533399" y="1896505"/>
            <a:ext cx="11568404" cy="44128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965" indent="-342265">
              <a:lnSpc>
                <a:spcPct val="100000"/>
              </a:lnSpc>
              <a:spcBef>
                <a:spcPts val="585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It’s</a:t>
            </a:r>
            <a:r>
              <a:rPr lang="en-US" spc="-5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save</a:t>
            </a:r>
            <a:r>
              <a:rPr lang="en-US" spc="-4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time.</a:t>
            </a: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By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using</a:t>
            </a:r>
            <a:r>
              <a:rPr lang="en-US" spc="-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this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system we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can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easily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create</a:t>
            </a:r>
            <a:r>
              <a:rPr lang="en-US" spc="-3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report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as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needed.</a:t>
            </a: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spc="-5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We</a:t>
            </a:r>
            <a:r>
              <a:rPr lang="en-US" spc="-4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can</a:t>
            </a:r>
            <a:r>
              <a:rPr lang="en-US" spc="-3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reserve</a:t>
            </a:r>
            <a:r>
              <a:rPr lang="en-US" spc="-3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all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data.</a:t>
            </a: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All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user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action</a:t>
            </a:r>
            <a:r>
              <a:rPr lang="en-US" spc="-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can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be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track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by</a:t>
            </a:r>
            <a:r>
              <a:rPr lang="en-US" spc="-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this</a:t>
            </a:r>
            <a:r>
              <a:rPr lang="en-US" spc="-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system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by</a:t>
            </a:r>
            <a:r>
              <a:rPr lang="en-US" spc="-9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Audit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login.</a:t>
            </a: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Can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track</a:t>
            </a:r>
            <a:r>
              <a:rPr lang="en-US" spc="-3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user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IP</a:t>
            </a:r>
            <a:r>
              <a:rPr lang="en-US" spc="-8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address,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Device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information</a:t>
            </a:r>
            <a:r>
              <a:rPr lang="en-US" spc="-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many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more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to</a:t>
            </a:r>
            <a:r>
              <a:rPr lang="en-US" spc="-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protect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miss-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use.</a:t>
            </a: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Data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will</a:t>
            </a:r>
            <a:r>
              <a:rPr lang="en-US" spc="-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be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safe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no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one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can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see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data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except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super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admin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admin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5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54965" indent="-342265">
              <a:lnSpc>
                <a:spcPts val="1835"/>
              </a:lnSpc>
              <a:spcBef>
                <a:spcPts val="585"/>
              </a:spcBef>
              <a:buClr>
                <a:srgbClr val="000000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Always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have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scoop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future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extension,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polish</a:t>
            </a:r>
            <a:r>
              <a:rPr lang="en-US" spc="-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or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custom</a:t>
            </a:r>
            <a:r>
              <a:rPr lang="en-US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any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functional</a:t>
            </a:r>
            <a:r>
              <a:rPr lang="en-US" spc="39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process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en-US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this</a:t>
            </a:r>
          </a:p>
          <a:p>
            <a:pPr marL="355600">
              <a:lnSpc>
                <a:spcPts val="1835"/>
              </a:lnSpc>
            </a:pP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system</a:t>
            </a:r>
            <a:r>
              <a:rPr lang="en-US" spc="-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if</a:t>
            </a:r>
            <a:r>
              <a:rPr lang="en-US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needed.</a:t>
            </a:r>
            <a:endParaRPr lang="en-US" spc="-1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59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0" y="626110"/>
            <a:ext cx="12192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Features</a:t>
            </a:r>
            <a:r>
              <a:rPr lang="en-US" sz="3200" b="1" spc="-114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en-US" sz="3200" b="1" spc="-1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e-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lang="en-US" sz="3200" b="1" spc="-13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M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anagement</a:t>
            </a:r>
            <a:r>
              <a:rPr lang="en-US" sz="3200" b="1" spc="-1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1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</a:t>
            </a:r>
            <a:r>
              <a:rPr lang="en-US" sz="320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ystem</a:t>
            </a:r>
            <a:endParaRPr lang="en-US"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756310" y="1808572"/>
            <a:ext cx="10916286" cy="478784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0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This</a:t>
            </a:r>
            <a:r>
              <a:rPr lang="en-US" sz="2800" spc="42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system</a:t>
            </a:r>
            <a:r>
              <a:rPr lang="en-US" sz="2800" spc="-3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inter-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face</a:t>
            </a:r>
            <a:r>
              <a:rPr lang="en-US" sz="2800" spc="-3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has</a:t>
            </a:r>
            <a:r>
              <a:rPr lang="en-US" sz="2800" spc="-1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en-US" sz="2800" spc="-1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user</a:t>
            </a:r>
            <a:r>
              <a:rPr lang="en-US" sz="2800" spc="-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login</a:t>
            </a:r>
            <a:r>
              <a:rPr lang="en-US" sz="2800" spc="-1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5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14320" lvl="1" indent="-192405">
              <a:spcBef>
                <a:spcPts val="994"/>
              </a:spcBef>
              <a:buSzPct val="94444"/>
              <a:buFontTx/>
              <a:buAutoNum type="arabicParenR"/>
              <a:tabLst>
                <a:tab pos="2814320" algn="l"/>
              </a:tabLst>
            </a:pPr>
            <a:r>
              <a:rPr lang="en-US" sz="2800" spc="-1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Head Quarter</a:t>
            </a:r>
            <a:r>
              <a:rPr lang="en-US" sz="2800" spc="-105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U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ser</a:t>
            </a:r>
            <a:r>
              <a:rPr lang="en-US" sz="2800" spc="5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login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2)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Unit/RPO</a:t>
            </a:r>
            <a:r>
              <a:rPr lang="en-US" sz="2800" spc="-25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user</a:t>
            </a:r>
            <a:r>
              <a:rPr lang="en-US" sz="2800" spc="-2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login</a:t>
            </a:r>
            <a:endParaRPr lang="en-US"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This</a:t>
            </a:r>
            <a:r>
              <a:rPr sz="2800" spc="-45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portion</a:t>
            </a:r>
            <a:r>
              <a:rPr sz="2800" spc="-55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operate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by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Unit</a:t>
            </a:r>
            <a:r>
              <a:rPr sz="2800" b="1" spc="-2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Office</a:t>
            </a:r>
            <a:r>
              <a:rPr sz="2800" b="1" spc="-4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as</a:t>
            </a:r>
            <a:r>
              <a:rPr sz="2800" spc="-25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udget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enerator </a:t>
            </a:r>
            <a:r>
              <a:rPr sz="2800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This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portion</a:t>
            </a:r>
            <a:r>
              <a:rPr sz="2800" spc="-35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operate</a:t>
            </a:r>
            <a:r>
              <a:rPr sz="2800" spc="-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by</a:t>
            </a:r>
            <a:r>
              <a:rPr sz="2800" spc="-1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Head</a:t>
            </a:r>
            <a:r>
              <a:rPr sz="2800" b="1" spc="-2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Quarter</a:t>
            </a:r>
            <a:r>
              <a:rPr sz="2800" b="1" spc="-4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as</a:t>
            </a:r>
            <a:r>
              <a:rPr sz="2800" spc="-15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approval </a:t>
            </a:r>
            <a:r>
              <a:rPr sz="2800" spc="-1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user</a:t>
            </a:r>
            <a:r>
              <a:rPr sz="2800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There</a:t>
            </a:r>
            <a:r>
              <a:rPr sz="2800" spc="-5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will</a:t>
            </a:r>
            <a:r>
              <a:rPr sz="2800" spc="-2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be</a:t>
            </a:r>
            <a:r>
              <a:rPr sz="2800" spc="-2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individual</a:t>
            </a:r>
            <a:r>
              <a:rPr sz="2800" spc="-3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user</a:t>
            </a:r>
            <a:r>
              <a:rPr sz="2800" spc="-1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id</a:t>
            </a:r>
            <a:r>
              <a:rPr sz="2800" spc="-2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sz="2800" spc="-2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password</a:t>
            </a:r>
            <a:r>
              <a:rPr sz="2800" spc="-1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There</a:t>
            </a:r>
            <a:r>
              <a:rPr sz="2800" spc="-4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will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be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  <a:r>
              <a:rPr sz="2800" spc="-1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forgot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password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option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so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user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can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reset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their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password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if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needed</a:t>
            </a:r>
            <a:r>
              <a:rPr sz="2800" spc="-10" dirty="0" smtClean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000000"/>
              </a:buClr>
              <a:buSzPct val="80555"/>
              <a:buFont typeface="Wingdings"/>
              <a:buChar char="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Any</a:t>
            </a:r>
            <a:r>
              <a:rPr sz="2800" spc="39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branch</a:t>
            </a:r>
            <a:r>
              <a:rPr sz="2800" spc="-4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can</a:t>
            </a:r>
            <a:r>
              <a:rPr sz="2800" spc="-3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not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see</a:t>
            </a:r>
            <a:r>
              <a:rPr sz="2800" spc="-3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other</a:t>
            </a:r>
            <a:r>
              <a:rPr sz="2800" spc="-3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branch's</a:t>
            </a:r>
            <a:r>
              <a:rPr sz="2800" spc="-5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report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except</a:t>
            </a:r>
            <a:r>
              <a:rPr sz="2800" spc="-4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super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admin</a:t>
            </a:r>
            <a:r>
              <a:rPr sz="2800" spc="-4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admin</a:t>
            </a:r>
            <a:r>
              <a:rPr sz="2800" spc="-4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solidFill>
                  <a:srgbClr val="40404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50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/>
          <p:cNvSpPr txBox="1">
            <a:spLocks/>
          </p:cNvSpPr>
          <p:nvPr/>
        </p:nvSpPr>
        <p:spPr>
          <a:xfrm>
            <a:off x="0" y="626110"/>
            <a:ext cx="12192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User</a:t>
            </a:r>
            <a:r>
              <a:rPr lang="en-US" sz="3200" b="1" spc="-27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Activity</a:t>
            </a:r>
            <a:r>
              <a:rPr lang="en-US" sz="3200" b="1" spc="-7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For</a:t>
            </a:r>
            <a:r>
              <a:rPr lang="en-US" sz="3200" b="1" spc="-9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RPO/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Unit</a:t>
            </a:r>
            <a:r>
              <a:rPr lang="en-US" sz="3200" b="1" spc="-4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Office</a:t>
            </a:r>
            <a:endParaRPr lang="en-US"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0286" y="1810139"/>
            <a:ext cx="45368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Budget Preparation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Additional Budget Proposal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Budget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Budget Surrender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Report</a:t>
            </a:r>
            <a:endParaRPr lang="en-US" sz="2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50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626110"/>
            <a:ext cx="121920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0" algn="ctr">
              <a:lnSpc>
                <a:spcPct val="100000"/>
              </a:lnSpc>
              <a:spcBef>
                <a:spcPts val="105"/>
              </a:spcBef>
            </a:pPr>
            <a:r>
              <a:rPr lang="en-US" sz="3200" b="1" spc="-2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User</a:t>
            </a:r>
            <a:r>
              <a:rPr lang="en-US" sz="3200" b="1" spc="-24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Activity</a:t>
            </a:r>
            <a:r>
              <a:rPr lang="en-US" sz="3200" b="1" spc="-2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For</a:t>
            </a:r>
            <a:r>
              <a:rPr lang="en-US" sz="3200" b="1" spc="-5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Head</a:t>
            </a:r>
            <a:r>
              <a:rPr lang="en-US" sz="3200" b="1" spc="-15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Quarter</a:t>
            </a:r>
            <a:endParaRPr lang="en-US" sz="3200" b="1" spc="-1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271" y="1943837"/>
            <a:ext cx="7816190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lang="en-US" sz="2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spc="-1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reparation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Revised</a:t>
            </a:r>
            <a:r>
              <a:rPr sz="2800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800" spc="-1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reparation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sz="2800" spc="-1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sz="2800" spc="-1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sz="2800" spc="-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2800" spc="-4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  <a:r>
              <a:rPr sz="2800" spc="-4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Surrender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2800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47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0920" y="2076350"/>
            <a:ext cx="98682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Budget Preparation 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</a:t>
            </a:r>
          </a:p>
        </p:txBody>
      </p:sp>
    </p:spTree>
    <p:extLst>
      <p:ext uri="{BB962C8B-B14F-4D97-AF65-F5344CB8AC3E}">
        <p14:creationId xmlns:p14="http://schemas.microsoft.com/office/powerpoint/2010/main" val="381248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1"/>
            <a:ext cx="12191999" cy="111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as-IN" sz="3200" b="1" dirty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পরিচালন ব্যয়ের </a:t>
            </a:r>
            <a:r>
              <a:rPr lang="as-IN" sz="3200" b="1" dirty="0" smtClean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প্রাথমকি প্রাক্কলন</a:t>
            </a:r>
            <a:r>
              <a:rPr lang="en-US" sz="3200" b="1" dirty="0" smtClean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 </a:t>
            </a:r>
            <a:r>
              <a:rPr lang="as-IN" sz="3200" b="1" dirty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ও </a:t>
            </a:r>
            <a:r>
              <a:rPr lang="as-IN" sz="3200" b="1" dirty="0" smtClean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প্রক্ষপেণ </a:t>
            </a:r>
            <a:r>
              <a:rPr lang="as-IN" sz="3200" b="1" dirty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(সার-সংক্ষেপ)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0327" y="20434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572333"/>
              </p:ext>
            </p:extLst>
          </p:nvPr>
        </p:nvGraphicFramePr>
        <p:xfrm>
          <a:off x="197734" y="737775"/>
          <a:ext cx="11781203" cy="5798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1544">
                  <a:extLst>
                    <a:ext uri="{9D8B030D-6E8A-4147-A177-3AD203B41FA5}">
                      <a16:colId xmlns:a16="http://schemas.microsoft.com/office/drawing/2014/main" xmlns="" val="2172387996"/>
                    </a:ext>
                  </a:extLst>
                </a:gridCol>
                <a:gridCol w="659757">
                  <a:extLst>
                    <a:ext uri="{9D8B030D-6E8A-4147-A177-3AD203B41FA5}">
                      <a16:colId xmlns:a16="http://schemas.microsoft.com/office/drawing/2014/main" xmlns="" val="2445198610"/>
                    </a:ext>
                  </a:extLst>
                </a:gridCol>
                <a:gridCol w="702303">
                  <a:extLst>
                    <a:ext uri="{9D8B030D-6E8A-4147-A177-3AD203B41FA5}">
                      <a16:colId xmlns:a16="http://schemas.microsoft.com/office/drawing/2014/main" xmlns="" val="2355498363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xmlns="" val="3274171706"/>
                    </a:ext>
                  </a:extLst>
                </a:gridCol>
                <a:gridCol w="1018572">
                  <a:extLst>
                    <a:ext uri="{9D8B030D-6E8A-4147-A177-3AD203B41FA5}">
                      <a16:colId xmlns:a16="http://schemas.microsoft.com/office/drawing/2014/main" xmlns="" val="2291133110"/>
                    </a:ext>
                  </a:extLst>
                </a:gridCol>
                <a:gridCol w="949124">
                  <a:extLst>
                    <a:ext uri="{9D8B030D-6E8A-4147-A177-3AD203B41FA5}">
                      <a16:colId xmlns:a16="http://schemas.microsoft.com/office/drawing/2014/main" xmlns="" val="3596728760"/>
                    </a:ext>
                  </a:extLst>
                </a:gridCol>
                <a:gridCol w="1157468">
                  <a:extLst>
                    <a:ext uri="{9D8B030D-6E8A-4147-A177-3AD203B41FA5}">
                      <a16:colId xmlns:a16="http://schemas.microsoft.com/office/drawing/2014/main" xmlns="" val="450461137"/>
                    </a:ext>
                  </a:extLst>
                </a:gridCol>
                <a:gridCol w="949125">
                  <a:extLst>
                    <a:ext uri="{9D8B030D-6E8A-4147-A177-3AD203B41FA5}">
                      <a16:colId xmlns:a16="http://schemas.microsoft.com/office/drawing/2014/main" xmlns="" val="3774689518"/>
                    </a:ext>
                  </a:extLst>
                </a:gridCol>
                <a:gridCol w="902825">
                  <a:extLst>
                    <a:ext uri="{9D8B030D-6E8A-4147-A177-3AD203B41FA5}">
                      <a16:colId xmlns:a16="http://schemas.microsoft.com/office/drawing/2014/main" xmlns="" val="2413890235"/>
                    </a:ext>
                  </a:extLst>
                </a:gridCol>
                <a:gridCol w="781234">
                  <a:extLst>
                    <a:ext uri="{9D8B030D-6E8A-4147-A177-3AD203B41FA5}">
                      <a16:colId xmlns:a16="http://schemas.microsoft.com/office/drawing/2014/main" xmlns="" val="2023009998"/>
                    </a:ext>
                  </a:extLst>
                </a:gridCol>
                <a:gridCol w="818000">
                  <a:extLst>
                    <a:ext uri="{9D8B030D-6E8A-4147-A177-3AD203B41FA5}">
                      <a16:colId xmlns:a16="http://schemas.microsoft.com/office/drawing/2014/main" xmlns="" val="775976831"/>
                    </a:ext>
                  </a:extLst>
                </a:gridCol>
              </a:tblGrid>
              <a:tr h="4944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অফিসের নাম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অফিস কোড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প্রকৃত ব্যয়</a:t>
                      </a:r>
                      <a:endParaRPr lang="as-IN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বাজেট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প্রস্তাবিত/</a:t>
                      </a:r>
                      <a:b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</a:br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সংশোধিত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b="0" dirty="0" smtClean="0">
                          <a:solidFill>
                            <a:schemeClr val="dk1"/>
                          </a:solidFill>
                          <a:latin typeface="SutonnyMJ" pitchFamily="2" charset="0"/>
                          <a:ea typeface="Verdana" panose="020B0604030504040204" pitchFamily="34" charset="0"/>
                          <a:cs typeface="Nikosh" panose="02000000000000000000" pitchFamily="2" charset="0"/>
                          <a:sym typeface="Times New Roman"/>
                        </a:rPr>
                        <a:t>প্রাক্কলন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s-IN" sz="1500" b="0" dirty="0" smtClean="0"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প্রক্ষেপন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ব্যাখ্যামূলক মন্তব্য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extLst>
                  <a:ext uri="{0D108BD9-81ED-4DB2-BD59-A6C34878D82A}">
                    <a16:rowId xmlns:a16="http://schemas.microsoft.com/office/drawing/2014/main" xmlns="" val="2984639058"/>
                  </a:ext>
                </a:extLst>
              </a:tr>
              <a:tr h="2994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২০২২-২৩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২০২৩-২৪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১ম 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</a:t>
                      </a:r>
                      <a:r>
                        <a:rPr lang="en-US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মাস </a:t>
                      </a:r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২০২৪-২৫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২০২৪-২৫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২০২৪-২৫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২০২৫-২৬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২০২৬-২৭</a:t>
                      </a:r>
                      <a:endParaRPr lang="as-IN" sz="1500" b="1" i="0" u="none" strike="noStrike" dirty="0" smtClean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২০২৭-২৮</a:t>
                      </a:r>
                      <a:endParaRPr lang="as-IN" sz="1500" b="1" i="0" u="none" strike="noStrike" dirty="0" smtClean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22055775"/>
                  </a:ext>
                </a:extLst>
              </a:tr>
              <a:tr h="250764"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</a:t>
                      </a:r>
                      <a:endParaRPr lang="as-IN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</a:t>
                      </a:r>
                      <a:endParaRPr lang="as-IN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</a:t>
                      </a:r>
                      <a:endParaRPr lang="as-IN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</a:t>
                      </a:r>
                      <a:endParaRPr lang="as-IN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৮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৯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১০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১১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extLst>
                  <a:ext uri="{0D108BD9-81ED-4DB2-BD59-A6C34878D82A}">
                    <a16:rowId xmlns:a16="http://schemas.microsoft.com/office/drawing/2014/main" xmlns="" val="2138420486"/>
                  </a:ext>
                </a:extLst>
              </a:tr>
              <a:tr h="250764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প্রধান কার্যালয়-১৬১০৫০১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22789371"/>
                  </a:ext>
                </a:extLst>
              </a:tr>
              <a:tr h="250764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3" action="ppaction://hlinkfile"/>
                        </a:rPr>
                        <a:t>প্রধান কার্যালয়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১২৩২০৮০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৫৭৩১৩৯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২১৩১৭৮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২৪৯৬৯৪০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২০৮৬২৬৪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১১৮৬১৭৭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১৭৭৮৫৫৩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২০৮১১৫০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3097745894"/>
                  </a:ext>
                </a:extLst>
              </a:tr>
              <a:tr h="274564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4" action="ppaction://hlinkfile"/>
                        </a:rPr>
                        <a:t>ডাটা এন্ড পার্সোনালাইজেশন সেন্টার, ঢাকা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১৪২১১৯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১৭৫২৪৬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১৮৩৪৬৩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৫৪১২৫৬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৪১৫৩৮৬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৬১৫০৫৬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১১৫৫২৪৪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১৩৭৯৯১৪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392571038"/>
                  </a:ext>
                </a:extLst>
              </a:tr>
              <a:tr h="494425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ডিজাস্টার রিকভারি 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সেন্টার </a:t>
                      </a:r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(ডিআরসি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)</a:t>
                      </a:r>
                      <a:r>
                        <a:rPr lang="en-US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,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 </a:t>
                      </a:r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যশোর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১৪২১২০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৭৭২৪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৭৬৩৮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১৯১৭৮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১৯১৭৮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২১৬১৬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২৩৭৫৭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২৫৫৪৬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475316101"/>
                  </a:ext>
                </a:extLst>
              </a:tr>
              <a:tr h="299829"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উপমোট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১২৩২০৮০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৭৫৬৩৩৬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৪০৪২৭৯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৩০৫৭৩৭৪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২৫২০৮২৮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১৮২২৮৪৯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২৯৫৭৫৫৪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৩৪৮৬৬১০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3776125326"/>
                  </a:ext>
                </a:extLst>
              </a:tr>
              <a:tr h="307985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বিভাগীয় পাসপোর্ট ও ভিসা অফিসসমূহ-১৬১০৫০২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13312928"/>
                  </a:ext>
                </a:extLst>
              </a:tr>
              <a:tr h="274564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6" action="ppaction://hlinkfile"/>
                        </a:rPr>
                        <a:t>বিভাগীয় পাসপোর্ট ও ভিসা অফিস, ঢাকা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৩৭৬৪৬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৩৭১২৯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৪৪৯৭৬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৪৪৯৭৬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৪২৫৯৬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৪৭১৮২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৪৯২৬৯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3857653956"/>
                  </a:ext>
                </a:extLst>
              </a:tr>
              <a:tr h="209556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7" action="ppaction://hlinkfile"/>
                        </a:rPr>
                        <a:t>বিভাগীয় পাসপোর্ট ও ভিসা অফিস, চট্টগ্রাম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১৭৯৩৬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১৮৭৪১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৬২১৭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২৪৪০২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২৪৪০২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২৫৫৭৮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২৮৫৯২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২৮৮৮২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85905684"/>
                  </a:ext>
                </a:extLst>
              </a:tr>
              <a:tr h="274564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8" action="ppaction://hlinkfile"/>
                        </a:rPr>
                        <a:t>বিভাগীয় পাসপোর্ট ও ভিসা অফিস, খুলনা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১৩৩২৫৬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১১১৫৯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১০৫৪২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২৮৩৩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১৬৩৮৪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১৬৩৮৪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১৫৩৬৮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১৬২৫৪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১৭৬০০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506889640"/>
                  </a:ext>
                </a:extLst>
              </a:tr>
              <a:tr h="255988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9" action="ppaction://hlinkfile"/>
                        </a:rPr>
                        <a:t>বিভাগীয় পাসপোর্ট ও ভিসা অফিস, রাজশাহী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১৩৩২৫৮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৯০৯৪</a:t>
                      </a:r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১০১৪৪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২৭০৫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১৩৫০০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১৩৫০০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১৪৪৬৬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১৭০০০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২০৯০০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311617059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0" action="ppaction://hlinkfile"/>
                        </a:rPr>
                        <a:t>বিভাগীয় পাসপোর্ট ও ভিসা অফিস, সিলেট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১৩৩২৫৯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১৮০০৩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১৬১২৭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৩৫৬৪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২৩৪৩৫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২৩৪৩৫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২৩৪১৭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২৪৭৮০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২৫২১৫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421877628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1" action="ppaction://hlinkfile"/>
                        </a:rPr>
                        <a:t>বিভাগীয় পাসপোর্ট ও ভিসা অফিস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1" action="ppaction://hlinkfile"/>
                        </a:rPr>
                        <a:t>,</a:t>
                      </a:r>
                      <a:r>
                        <a:rPr lang="as-IN" sz="1500" u="none" strike="noStrike" dirty="0" smtClean="0">
                          <a:effectLst/>
                          <a:latin typeface="SutonnyMJ" pitchFamily="2" charset="0"/>
                          <a:cs typeface="Nikosh" panose="02000000000000000000" pitchFamily="2" charset="0"/>
                          <a:hlinkClick r:id="rId11" action="ppaction://hlinkfile"/>
                        </a:rPr>
                        <a:t> </a:t>
                      </a:r>
                      <a:r>
                        <a:rPr lang="en-US" sz="1500" u="none" strike="noStrike" dirty="0" err="1" smtClean="0">
                          <a:effectLst/>
                          <a:latin typeface="SutonnyMJ" pitchFamily="2" charset="0"/>
                          <a:cs typeface="Nikosh" panose="02000000000000000000" pitchFamily="2" charset="0"/>
                          <a:hlinkClick r:id="rId11" action="ppaction://hlinkfile"/>
                        </a:rPr>
                        <a:t>ewikvj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১৩৩২৫৮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৯০৯৪</a:t>
                      </a:r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১০১৪৪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২৭০৫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১৩৫০০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১৩৫০০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১৪৪৬৬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১৭০০০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২০৯০০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312333274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2" action="ppaction://hlinkfile"/>
                        </a:rPr>
                        <a:t>বিভাগীয় পাসপোর্ট ও ভিসা অফিস, </a:t>
                      </a:r>
                      <a:r>
                        <a:rPr lang="en-US" sz="1500" u="none" strike="noStrike" dirty="0" err="1" smtClean="0">
                          <a:effectLst/>
                          <a:latin typeface="SutonnyMJ" pitchFamily="2" charset="0"/>
                          <a:cs typeface="Nikosh" panose="02000000000000000000" pitchFamily="2" charset="0"/>
                          <a:hlinkClick r:id="rId12" action="ppaction://hlinkfile"/>
                        </a:rPr>
                        <a:t>iscyi</a:t>
                      </a:r>
                      <a:r>
                        <a:rPr lang="en-US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2" action="ppaction://hlinkfile"/>
                        </a:rPr>
                        <a:t> 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১৩৩২৫৯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১৮০০৩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১৬১২৭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৩৫৬৪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২৩৪৩৫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২৩৪৩৫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২৩৪১৭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২৪৭৮০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২৫২১৫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876247428"/>
                  </a:ext>
                </a:extLst>
              </a:tr>
              <a:tr h="357054"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উপমোট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১২৩২০৮০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৭৫৬৩৩৬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৪০৪২৭৯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৩০৫৭৩৭৪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২৫২০৮২৮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১৮২২৮৪৯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২৯৫৭৫৫৪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৩৪৮৬৬১০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861306643"/>
                  </a:ext>
                </a:extLst>
              </a:tr>
              <a:tr h="357054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3" action="ppaction://hlinkfile"/>
                        </a:rPr>
                        <a:t>আঞ্চলিক পাসপোর্ট অফিসসমূহ-১৬১০৫০৩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০০০০০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৩৩৪৯০১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৩৯০১৮২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১১০৭৫৪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৬৪৩৬২০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৬৯৭৭৯৪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3363641"/>
                  </a:ext>
                </a:extLst>
              </a:tr>
              <a:tr h="250764"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সর্বমোট</a:t>
                      </a:r>
                      <a:endParaRPr lang="as-IN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১৬৭৮৩৩০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১২৫৯০২৩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৬৫৪২৮০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৩৮৪৮১০০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৩২৪৪৮৭৪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২৭০৩০৭৭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৩৯০৪২২৯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৪৪৯৮২৪০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74839236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04003" y="462583"/>
            <a:ext cx="15905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s-IN" sz="1000" dirty="0"/>
              <a:t>(অংকসমূহ হাজার টাকায়)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3104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1"/>
            <a:ext cx="12191999" cy="111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as-IN" sz="3600" b="1" dirty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পরিচালন ব্যয়ের সংশোধিত </a:t>
            </a:r>
            <a:r>
              <a:rPr lang="as-IN" sz="3600" b="1" dirty="0" smtClean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প্রাক্কলন</a:t>
            </a:r>
            <a:r>
              <a:rPr lang="en-US" sz="3600" b="1" dirty="0" smtClean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 </a:t>
            </a:r>
            <a:r>
              <a:rPr lang="as-IN" sz="3600" b="1" dirty="0" smtClean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(</a:t>
            </a:r>
            <a:r>
              <a:rPr lang="as-IN" sz="3600" b="1" dirty="0">
                <a:solidFill>
                  <a:schemeClr val="dk1"/>
                </a:solidFill>
                <a:latin typeface="SutonnyMJ" pitchFamily="2" charset="0"/>
                <a:ea typeface="Verdana" panose="020B0604030504040204" pitchFamily="34" charset="0"/>
                <a:cs typeface="Nikosh" panose="02000000000000000000" pitchFamily="2" charset="0"/>
                <a:sym typeface="Times New Roman"/>
              </a:rPr>
              <a:t>সার-সংক্ষেপ)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0327" y="20434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400727"/>
              </p:ext>
            </p:extLst>
          </p:nvPr>
        </p:nvGraphicFramePr>
        <p:xfrm>
          <a:off x="228600" y="822958"/>
          <a:ext cx="11648441" cy="57831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2442">
                  <a:extLst>
                    <a:ext uri="{9D8B030D-6E8A-4147-A177-3AD203B41FA5}">
                      <a16:colId xmlns:a16="http://schemas.microsoft.com/office/drawing/2014/main" xmlns="" val="2172387996"/>
                    </a:ext>
                  </a:extLst>
                </a:gridCol>
                <a:gridCol w="695724">
                  <a:extLst>
                    <a:ext uri="{9D8B030D-6E8A-4147-A177-3AD203B41FA5}">
                      <a16:colId xmlns:a16="http://schemas.microsoft.com/office/drawing/2014/main" xmlns="" val="2445198610"/>
                    </a:ext>
                  </a:extLst>
                </a:gridCol>
                <a:gridCol w="740588">
                  <a:extLst>
                    <a:ext uri="{9D8B030D-6E8A-4147-A177-3AD203B41FA5}">
                      <a16:colId xmlns:a16="http://schemas.microsoft.com/office/drawing/2014/main" xmlns="" val="2355498363"/>
                    </a:ext>
                  </a:extLst>
                </a:gridCol>
                <a:gridCol w="939837">
                  <a:extLst>
                    <a:ext uri="{9D8B030D-6E8A-4147-A177-3AD203B41FA5}">
                      <a16:colId xmlns:a16="http://schemas.microsoft.com/office/drawing/2014/main" xmlns="" val="3274171706"/>
                    </a:ext>
                  </a:extLst>
                </a:gridCol>
                <a:gridCol w="1074097">
                  <a:extLst>
                    <a:ext uri="{9D8B030D-6E8A-4147-A177-3AD203B41FA5}">
                      <a16:colId xmlns:a16="http://schemas.microsoft.com/office/drawing/2014/main" xmlns="" val="2291133110"/>
                    </a:ext>
                  </a:extLst>
                </a:gridCol>
                <a:gridCol w="1000865">
                  <a:extLst>
                    <a:ext uri="{9D8B030D-6E8A-4147-A177-3AD203B41FA5}">
                      <a16:colId xmlns:a16="http://schemas.microsoft.com/office/drawing/2014/main" xmlns="" val="3614000241"/>
                    </a:ext>
                  </a:extLst>
                </a:gridCol>
                <a:gridCol w="1000865">
                  <a:extLst>
                    <a:ext uri="{9D8B030D-6E8A-4147-A177-3AD203B41FA5}">
                      <a16:colId xmlns:a16="http://schemas.microsoft.com/office/drawing/2014/main" xmlns="" val="3146562014"/>
                    </a:ext>
                  </a:extLst>
                </a:gridCol>
                <a:gridCol w="1000865">
                  <a:extLst>
                    <a:ext uri="{9D8B030D-6E8A-4147-A177-3AD203B41FA5}">
                      <a16:colId xmlns:a16="http://schemas.microsoft.com/office/drawing/2014/main" xmlns="" val="3596728760"/>
                    </a:ext>
                  </a:extLst>
                </a:gridCol>
                <a:gridCol w="1220566">
                  <a:extLst>
                    <a:ext uri="{9D8B030D-6E8A-4147-A177-3AD203B41FA5}">
                      <a16:colId xmlns:a16="http://schemas.microsoft.com/office/drawing/2014/main" xmlns="" val="450461137"/>
                    </a:ext>
                  </a:extLst>
                </a:gridCol>
                <a:gridCol w="862592">
                  <a:extLst>
                    <a:ext uri="{9D8B030D-6E8A-4147-A177-3AD203B41FA5}">
                      <a16:colId xmlns:a16="http://schemas.microsoft.com/office/drawing/2014/main" xmlns="" val="775976831"/>
                    </a:ext>
                  </a:extLst>
                </a:gridCol>
              </a:tblGrid>
              <a:tr h="50326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অফিসের নাম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অফিস কোড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প্রকৃত ব্যয়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বাজেট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প্রস্তাবিত/</a:t>
                      </a:r>
                      <a:b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</a:br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সংশোধিত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ব্যাখ্যামূলক মন্তব্য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extLst>
                  <a:ext uri="{0D108BD9-81ED-4DB2-BD59-A6C34878D82A}">
                    <a16:rowId xmlns:a16="http://schemas.microsoft.com/office/drawing/2014/main" xmlns="" val="2984639058"/>
                  </a:ext>
                </a:extLst>
              </a:tr>
              <a:tr h="4721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২০২৩-২৪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২০২৪-২৫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১ম 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</a:t>
                      </a:r>
                      <a:r>
                        <a:rPr lang="en-US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মাস ২০২৩-২৪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১ম ৬</a:t>
                      </a:r>
                      <a:r>
                        <a:rPr lang="en-US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মাস ২০২৪-২৫</a:t>
                      </a:r>
                      <a:endParaRPr lang="as-IN" sz="1500" b="1" i="0" u="none" strike="noStrike" dirty="0" smtClean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১ম ৪</a:t>
                      </a:r>
                      <a:r>
                        <a:rPr lang="en-US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মাস ২০২৫-২৬</a:t>
                      </a:r>
                      <a:endParaRPr lang="as-IN" sz="1500" b="1" i="0" u="none" strike="noStrike" dirty="0" smtClean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২০২৫-২৬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২০২৫-২৬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22055775"/>
                  </a:ext>
                </a:extLst>
              </a:tr>
              <a:tr h="286005"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</a:t>
                      </a:r>
                      <a:endParaRPr lang="as-IN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s-IN" sz="18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৮</a:t>
                      </a:r>
                      <a:endParaRPr lang="en-US" dirty="0"/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as-IN" sz="18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৯</a:t>
                      </a:r>
                      <a:endParaRPr lang="en-US" dirty="0"/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১০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extLst>
                  <a:ext uri="{0D108BD9-81ED-4DB2-BD59-A6C34878D82A}">
                    <a16:rowId xmlns:a16="http://schemas.microsoft.com/office/drawing/2014/main" xmlns="" val="2138420486"/>
                  </a:ext>
                </a:extLst>
              </a:tr>
              <a:tr h="255246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প্রধান কার্যালয়-১৬১০৫০১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22789371"/>
                  </a:ext>
                </a:extLst>
              </a:tr>
              <a:tr h="255246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3" action="ppaction://hlinkfile"/>
                        </a:rPr>
                        <a:t>প্রধান কার্যালয়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১২৩২০৮০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৫৭৩১৩৯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২১৩১৭৮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১২৩২০৮০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৫৭৩১৩৯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২১৩১৭৮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২০৮৬২৬৪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3097745894"/>
                  </a:ext>
                </a:extLst>
              </a:tr>
              <a:tr h="279470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4" action="ppaction://hlinkfile"/>
                        </a:rPr>
                        <a:t>ডাটা এন্ড পার্সোনালাইজেশন সেন্টার, ঢাকা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১৪২১১৯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১৭৫২৪৬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১৮৩৪৬৩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১২৩২০৮০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৫৭৩১৩৯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২১৩১৭৮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৪১৫৩৮৬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392571038"/>
                  </a:ext>
                </a:extLst>
              </a:tr>
              <a:tr h="219380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ডিজাস্টার রিকভারি 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সেন্টার </a:t>
                      </a:r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(ডিআরসি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)</a:t>
                      </a:r>
                      <a:r>
                        <a:rPr lang="en-US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,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 </a:t>
                      </a:r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5" action="ppaction://hlinkfile"/>
                        </a:rPr>
                        <a:t>যশোর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১৪২১২০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৭৭২৪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৭৬৩৮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১২৩২০৮০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৫৭৩১৩৯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২১৩১৭৮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১৯১৭৮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475316101"/>
                  </a:ext>
                </a:extLst>
              </a:tr>
              <a:tr h="197476"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উপমোট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১২৩২০৮০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৭৫৬৩৩৬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৪০৪২৭৯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৩০৫৭৩৭৪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২৫২০৮২৮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3776125326"/>
                  </a:ext>
                </a:extLst>
              </a:tr>
              <a:tr h="472154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বিভাগীয় পাসপোর্ট ও ভিসা অফিসসমূহ-১৬১০৫০২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13312928"/>
                  </a:ext>
                </a:extLst>
              </a:tr>
              <a:tr h="279470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6" action="ppaction://hlinkfile"/>
                        </a:rPr>
                        <a:t>বিভাগীয় পাসপোর্ট ও ভিসা অফিস, ঢাকা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৩৭৬৪৬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৩৭১২৯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৪৪৯৭৬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৪৪৯৭৬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3857653956"/>
                  </a:ext>
                </a:extLst>
              </a:tr>
              <a:tr h="239469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7" action="ppaction://hlinkfile"/>
                        </a:rPr>
                        <a:t>বিভাগীয় পাসপোর্ট ও ভিসা অফিস, চট্টগ্রাম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১৭৯৩৬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১৮৭৪১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৬২১৭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৩৭১২৯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২৪৪০২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২৪৪০২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85905684"/>
                  </a:ext>
                </a:extLst>
              </a:tr>
              <a:tr h="279470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8" action="ppaction://hlinkfile"/>
                        </a:rPr>
                        <a:t>বিভাগীয় পাসপোর্ট ও ভিসা অফিস, খুলনা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১৩৩২৫৬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১১১৫৯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১০৫৪২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২৮৩৩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৩৭১২৯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১৬৩৮৪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১৬৩৮৪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506889640"/>
                  </a:ext>
                </a:extLst>
              </a:tr>
              <a:tr h="260563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9" action="ppaction://hlinkfile"/>
                        </a:rPr>
                        <a:t>বিভাগীয় পাসপোর্ট ও ভিসা অফিস, রাজশাহী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১৩৩২৫৮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৯০৯৪</a:t>
                      </a:r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১০১৪৪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২৭০৫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৩৭১২৯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১৩৫০০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১৩৫০০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3116170593"/>
                  </a:ext>
                </a:extLst>
              </a:tr>
              <a:tr h="239469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0" action="ppaction://hlinkfile"/>
                        </a:rPr>
                        <a:t>বিভাগীয় পাসপোর্ট ও ভিসা অফিস, সিলেট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১৩৩২৫৯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১৮০০৩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১৬১২৭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৩৫৬৪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৩৭১২৯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২৩৪৩৫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২৩৪৩৫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4218776286"/>
                  </a:ext>
                </a:extLst>
              </a:tr>
              <a:tr h="239469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1" action="ppaction://hlinkfile"/>
                        </a:rPr>
                        <a:t>বিভাগীয় পাসপোর্ট ও ভিসা অফিস</a:t>
                      </a:r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1" action="ppaction://hlinkfile"/>
                        </a:rPr>
                        <a:t>,</a:t>
                      </a:r>
                      <a:r>
                        <a:rPr lang="as-IN" sz="1500" u="none" strike="noStrike" dirty="0" smtClean="0">
                          <a:effectLst/>
                          <a:latin typeface="SutonnyMJ" pitchFamily="2" charset="0"/>
                          <a:cs typeface="Nikosh" panose="02000000000000000000" pitchFamily="2" charset="0"/>
                          <a:hlinkClick r:id="rId11" action="ppaction://hlinkfile"/>
                        </a:rPr>
                        <a:t> </a:t>
                      </a:r>
                      <a:r>
                        <a:rPr lang="en-US" sz="1500" u="none" strike="noStrike" dirty="0" err="1" smtClean="0">
                          <a:effectLst/>
                          <a:latin typeface="SutonnyMJ" pitchFamily="2" charset="0"/>
                          <a:cs typeface="Nikosh" panose="02000000000000000000" pitchFamily="2" charset="0"/>
                          <a:hlinkClick r:id="rId11" action="ppaction://hlinkfile"/>
                        </a:rPr>
                        <a:t>ewikvj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১৩৩২৫৮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৯০৯৪</a:t>
                      </a:r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১০১৪৪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২৭০৫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৩৭১২৯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১৩৫০০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১৩৫০০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3123332747"/>
                  </a:ext>
                </a:extLst>
              </a:tr>
              <a:tr h="239469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2" action="ppaction://hlinkfile"/>
                        </a:rPr>
                        <a:t>বিভাগীয় পাসপোর্ট ও ভিসা অফিস, </a:t>
                      </a:r>
                      <a:r>
                        <a:rPr lang="en-US" sz="1500" u="none" strike="noStrike" dirty="0" err="1" smtClean="0">
                          <a:effectLst/>
                          <a:latin typeface="SutonnyMJ" pitchFamily="2" charset="0"/>
                          <a:cs typeface="Nikosh" panose="02000000000000000000" pitchFamily="2" charset="0"/>
                          <a:hlinkClick r:id="rId12" action="ppaction://hlinkfile"/>
                        </a:rPr>
                        <a:t>iscyi</a:t>
                      </a:r>
                      <a:r>
                        <a:rPr lang="en-US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2" action="ppaction://hlinkfile"/>
                        </a:rPr>
                        <a:t> 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১৩৩২৫৯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১৮০০৩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১৬১২৭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৩৫৬৪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৩৭১২৯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২৩৪৩৫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২৩৪৩৫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876247428"/>
                  </a:ext>
                </a:extLst>
              </a:tr>
              <a:tr h="363435"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উপমোট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১২৩২০৮০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৭৫৬৩৩৬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৪০৪২৭৯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৩৭১২৯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৭৬২৮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৩০৫৭৩৭৪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as-IN" sz="15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২৫২০৮২৮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861306643"/>
                  </a:ext>
                </a:extLst>
              </a:tr>
              <a:tr h="363435">
                <a:tc>
                  <a:txBody>
                    <a:bodyPr/>
                    <a:lstStyle/>
                    <a:p>
                      <a:pPr algn="l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  <a:hlinkClick r:id="rId13" action="ppaction://hlinkfile"/>
                        </a:rPr>
                        <a:t>আঞ্চলিক পাসপোর্ট অফিসসমূহ-১৬১০৫০৩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০০০০০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৩৩৪৯০১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৩৯০১৮২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১১০৭৫৪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৬৪৩৬২০</a:t>
                      </a:r>
                      <a:endParaRPr lang="as-IN" sz="15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৬৯৭৭৯৪</a:t>
                      </a:r>
                      <a:endParaRPr lang="as-IN" sz="15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3363641"/>
                  </a:ext>
                </a:extLst>
              </a:tr>
              <a:tr h="284802"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সর্বমোট</a:t>
                      </a:r>
                      <a:endParaRPr lang="as-IN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u="none" strike="noStrike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১৬৭৮৩৩০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১২৫৯০২৩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৬৫৪২৮০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৩৮৪৮১০০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500" u="none" strike="noStrike" dirty="0" smtClean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৩২৪৪৮৭৪</a:t>
                      </a:r>
                      <a:endParaRPr lang="as-IN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 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664" marR="6664" marT="6664" marB="0" anchor="b"/>
                </a:tc>
                <a:extLst>
                  <a:ext uri="{0D108BD9-81ED-4DB2-BD59-A6C34878D82A}">
                    <a16:rowId xmlns:a16="http://schemas.microsoft.com/office/drawing/2014/main" xmlns="" val="174839236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04003" y="462583"/>
            <a:ext cx="15905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s-IN" sz="1000" dirty="0"/>
              <a:t>(অংকসমূহ হাজার টাকায়)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0314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93306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" sz="32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Budget Distribution by Manual System</a:t>
            </a:r>
            <a:endParaRPr lang="en" sz="3200" b="1" dirty="0">
              <a:solidFill>
                <a:schemeClr val="dk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609585" algn="ctr"/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6" name="object 3"/>
          <p:cNvSpPr txBox="1"/>
          <p:nvPr/>
        </p:nvSpPr>
        <p:spPr>
          <a:xfrm>
            <a:off x="889271" y="1943837"/>
            <a:ext cx="8966998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Budget Proposal Sent by RPO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Budget Proposal Entry in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E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xcel Sheet for Distribution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Adjustment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Allotment Sheet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Prepare</a:t>
            </a:r>
            <a:endParaRPr lang="en-US" sz="2800" dirty="0" smtClean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 by DG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92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-186612" y="2248678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" sz="80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Budget Distribution by </a:t>
            </a:r>
            <a:endParaRPr lang="en" sz="8000" b="1" dirty="0" smtClean="0">
              <a:solidFill>
                <a:schemeClr val="dk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609585" algn="ctr"/>
            <a:r>
              <a:rPr lang="en" sz="80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e-System</a:t>
            </a:r>
            <a:endParaRPr lang="en" sz="8000" b="1" dirty="0">
              <a:solidFill>
                <a:schemeClr val="dk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880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93306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" sz="3200" b="1" dirty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Budget Proposal Entry by Unit Office</a:t>
            </a:r>
          </a:p>
          <a:p>
            <a:pPr marL="609585" algn="ctr"/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629146"/>
              </p:ext>
            </p:extLst>
          </p:nvPr>
        </p:nvGraphicFramePr>
        <p:xfrm>
          <a:off x="631805" y="985130"/>
          <a:ext cx="11257343" cy="49925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5021">
                  <a:extLst>
                    <a:ext uri="{9D8B030D-6E8A-4147-A177-3AD203B41FA5}">
                      <a16:colId xmlns:a16="http://schemas.microsoft.com/office/drawing/2014/main" xmlns="" val="3983431640"/>
                    </a:ext>
                  </a:extLst>
                </a:gridCol>
                <a:gridCol w="1847462">
                  <a:extLst>
                    <a:ext uri="{9D8B030D-6E8A-4147-A177-3AD203B41FA5}">
                      <a16:colId xmlns:a16="http://schemas.microsoft.com/office/drawing/2014/main" xmlns="" val="3112301428"/>
                    </a:ext>
                  </a:extLst>
                </a:gridCol>
                <a:gridCol w="1847462">
                  <a:extLst>
                    <a:ext uri="{9D8B030D-6E8A-4147-A177-3AD203B41FA5}">
                      <a16:colId xmlns:a16="http://schemas.microsoft.com/office/drawing/2014/main" xmlns="" val="2977787534"/>
                    </a:ext>
                  </a:extLst>
                </a:gridCol>
                <a:gridCol w="1515740">
                  <a:extLst>
                    <a:ext uri="{9D8B030D-6E8A-4147-A177-3AD203B41FA5}">
                      <a16:colId xmlns:a16="http://schemas.microsoft.com/office/drawing/2014/main" xmlns="" val="214044494"/>
                    </a:ext>
                  </a:extLst>
                </a:gridCol>
                <a:gridCol w="1457869">
                  <a:extLst>
                    <a:ext uri="{9D8B030D-6E8A-4147-A177-3AD203B41FA5}">
                      <a16:colId xmlns:a16="http://schemas.microsoft.com/office/drawing/2014/main" xmlns="" val="247913186"/>
                    </a:ext>
                  </a:extLst>
                </a:gridCol>
                <a:gridCol w="1634874">
                  <a:extLst>
                    <a:ext uri="{9D8B030D-6E8A-4147-A177-3AD203B41FA5}">
                      <a16:colId xmlns:a16="http://schemas.microsoft.com/office/drawing/2014/main" xmlns="" val="627003578"/>
                    </a:ext>
                  </a:extLst>
                </a:gridCol>
                <a:gridCol w="1178915">
                  <a:extLst>
                    <a:ext uri="{9D8B030D-6E8A-4147-A177-3AD203B41FA5}">
                      <a16:colId xmlns:a16="http://schemas.microsoft.com/office/drawing/2014/main" xmlns="" val="3426079334"/>
                    </a:ext>
                  </a:extLst>
                </a:gridCol>
              </a:tblGrid>
              <a:tr h="41690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baseline="0" dirty="0" err="1">
                          <a:effectLst/>
                        </a:rPr>
                        <a:t>অর্থনৈতিক</a:t>
                      </a:r>
                      <a:r>
                        <a:rPr lang="en-US" sz="1400" b="1" baseline="0" dirty="0">
                          <a:effectLst/>
                        </a:rPr>
                        <a:t> </a:t>
                      </a:r>
                      <a:r>
                        <a:rPr lang="en-US" sz="1400" b="1" baseline="0" dirty="0" err="1">
                          <a:effectLst/>
                        </a:rPr>
                        <a:t>কোড</a:t>
                      </a:r>
                      <a:r>
                        <a:rPr lang="en-US" sz="1400" b="1" baseline="0" dirty="0">
                          <a:effectLst/>
                        </a:rPr>
                        <a:t>  </a:t>
                      </a:r>
                      <a:r>
                        <a:rPr lang="en-US" sz="1400" b="1" baseline="0" dirty="0" err="1">
                          <a:effectLst/>
                        </a:rPr>
                        <a:t>নং</a:t>
                      </a:r>
                      <a:endParaRPr lang="en-US" sz="1400" b="1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baseline="0" dirty="0" err="1">
                          <a:effectLst/>
                        </a:rPr>
                        <a:t>বিবরণ</a:t>
                      </a:r>
                      <a:endParaRPr lang="en-US" sz="1400" b="1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baseline="0" dirty="0" err="1" smtClean="0">
                          <a:effectLst/>
                        </a:rPr>
                        <a:t>প্রকৃত</a:t>
                      </a:r>
                      <a:r>
                        <a:rPr lang="en-US" sz="1400" b="1" baseline="0" dirty="0" smtClean="0">
                          <a:effectLst/>
                        </a:rPr>
                        <a:t> </a:t>
                      </a:r>
                      <a:r>
                        <a:rPr lang="en-US" sz="1400" b="1" baseline="0" dirty="0" err="1">
                          <a:effectLst/>
                        </a:rPr>
                        <a:t>ব্যয়</a:t>
                      </a:r>
                      <a:endParaRPr lang="en-US" sz="1400" b="1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চাহিদা</a:t>
                      </a:r>
                      <a:endParaRPr lang="en-US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2024-25</a:t>
                      </a:r>
                      <a:endParaRPr lang="en-US" sz="20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baseline="0" dirty="0" err="1" smtClean="0">
                          <a:effectLst/>
                        </a:rPr>
                        <a:t>মন্তব্য</a:t>
                      </a:r>
                      <a:r>
                        <a:rPr lang="en-US" sz="1400" b="1" baseline="0" dirty="0" smtClean="0">
                          <a:effectLst/>
                        </a:rPr>
                        <a:t>/</a:t>
                      </a:r>
                      <a:r>
                        <a:rPr lang="en-US" sz="1400" b="1" baseline="0" dirty="0" err="1" smtClean="0">
                          <a:effectLst/>
                        </a:rPr>
                        <a:t>ব্যাখ্যা</a:t>
                      </a:r>
                      <a:r>
                        <a:rPr lang="en-US" sz="1400" b="1" baseline="0" dirty="0">
                          <a:effectLst/>
                        </a:rPr>
                        <a:t> </a:t>
                      </a:r>
                      <a:endParaRPr lang="en-US" sz="1400" b="1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7771256"/>
                  </a:ext>
                </a:extLst>
              </a:tr>
              <a:tr h="574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2021-22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2022-23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2023-24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37200744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৩১১১১০১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মূল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</a:rPr>
                        <a:t>বেতন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1234080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2234080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032717348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৩১১১৩১০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বাড়ি ভাড়া ভাতা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1132080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1132080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1133080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3133080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235530701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৩১১১৩১১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চিকিৎসা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</a:rPr>
                        <a:t>ভাতা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1032080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1032080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1032080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4032080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24172695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৩১১১৩২৫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উৎসব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</a:rPr>
                        <a:t>ভাতা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12320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12320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12220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52220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 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862749647"/>
                  </a:ext>
                </a:extLst>
              </a:tr>
              <a:tr h="4958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৩২১১১০৪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আনুষঙ্গিক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</a:rPr>
                        <a:t>কর্মচারি</a:t>
                      </a:r>
                      <a:r>
                        <a:rPr lang="en-US" sz="1400" baseline="0" dirty="0">
                          <a:effectLst/>
                        </a:rPr>
                        <a:t>/</a:t>
                      </a:r>
                      <a:r>
                        <a:rPr lang="en-US" sz="1400" baseline="0" dirty="0" err="1">
                          <a:effectLst/>
                        </a:rPr>
                        <a:t>প্রতিষ্ঠান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37646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37646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37746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67746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156025778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৩২১১১১৩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বিদ্যু</a:t>
                      </a:r>
                      <a:r>
                        <a:rPr lang="en-US" sz="1400" baseline="0" dirty="0">
                          <a:effectLst/>
                        </a:rPr>
                        <a:t>ৎ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17396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17396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18396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88396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62714975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৩২৪৩১০২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গ্যাস</a:t>
                      </a:r>
                      <a:r>
                        <a:rPr lang="en-US" sz="1400" baseline="0" dirty="0">
                          <a:effectLst/>
                        </a:rPr>
                        <a:t> ও </a:t>
                      </a:r>
                      <a:r>
                        <a:rPr lang="en-US" sz="1400" baseline="0" dirty="0" err="1">
                          <a:effectLst/>
                        </a:rPr>
                        <a:t>জ্বালানি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87646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87646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89646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99646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76004033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৩২৫৫১০৫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মনিহারি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47646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47646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46646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36646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418722070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৪১১২৩১৪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আসবাবপত্র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57646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57646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59646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99646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46921466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310327" y="20434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319259" y="2011138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319259" y="2458228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319259" y="2874838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9319259" y="3332088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9319259" y="3827286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9319259" y="4279456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9319259" y="4726546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9319259" y="5153316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9319259" y="5611967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560" y="6024484"/>
            <a:ext cx="2035834" cy="65146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04220" y="195017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904220" y="239726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0904220" y="281387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0904220" y="327112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0904220" y="3766326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0904220" y="4218496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0904220" y="4665586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0904220" y="5092356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0904220" y="5551007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98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93306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" sz="32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Adjustment by Head Office</a:t>
            </a:r>
            <a:endParaRPr lang="en" sz="3200" b="1" dirty="0">
              <a:solidFill>
                <a:schemeClr val="dk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609585" algn="ctr"/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124344"/>
              </p:ext>
            </p:extLst>
          </p:nvPr>
        </p:nvGraphicFramePr>
        <p:xfrm>
          <a:off x="582612" y="930117"/>
          <a:ext cx="10984548" cy="46061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91594">
                  <a:extLst>
                    <a:ext uri="{9D8B030D-6E8A-4147-A177-3AD203B41FA5}">
                      <a16:colId xmlns:a16="http://schemas.microsoft.com/office/drawing/2014/main" xmlns="" val="2909289390"/>
                    </a:ext>
                  </a:extLst>
                </a:gridCol>
                <a:gridCol w="773555">
                  <a:extLst>
                    <a:ext uri="{9D8B030D-6E8A-4147-A177-3AD203B41FA5}">
                      <a16:colId xmlns:a16="http://schemas.microsoft.com/office/drawing/2014/main" xmlns="" val="844330606"/>
                    </a:ext>
                  </a:extLst>
                </a:gridCol>
                <a:gridCol w="887193">
                  <a:extLst>
                    <a:ext uri="{9D8B030D-6E8A-4147-A177-3AD203B41FA5}">
                      <a16:colId xmlns:a16="http://schemas.microsoft.com/office/drawing/2014/main" xmlns="" val="1004075690"/>
                    </a:ext>
                  </a:extLst>
                </a:gridCol>
                <a:gridCol w="1188687">
                  <a:extLst>
                    <a:ext uri="{9D8B030D-6E8A-4147-A177-3AD203B41FA5}">
                      <a16:colId xmlns:a16="http://schemas.microsoft.com/office/drawing/2014/main" xmlns="" val="3220522913"/>
                    </a:ext>
                  </a:extLst>
                </a:gridCol>
                <a:gridCol w="1172478">
                  <a:extLst>
                    <a:ext uri="{9D8B030D-6E8A-4147-A177-3AD203B41FA5}">
                      <a16:colId xmlns:a16="http://schemas.microsoft.com/office/drawing/2014/main" xmlns="" val="1605569058"/>
                    </a:ext>
                  </a:extLst>
                </a:gridCol>
                <a:gridCol w="1031996">
                  <a:extLst>
                    <a:ext uri="{9D8B030D-6E8A-4147-A177-3AD203B41FA5}">
                      <a16:colId xmlns:a16="http://schemas.microsoft.com/office/drawing/2014/main" xmlns="" val="2402697574"/>
                    </a:ext>
                  </a:extLst>
                </a:gridCol>
                <a:gridCol w="912047">
                  <a:extLst>
                    <a:ext uri="{9D8B030D-6E8A-4147-A177-3AD203B41FA5}">
                      <a16:colId xmlns:a16="http://schemas.microsoft.com/office/drawing/2014/main" xmlns="" val="868884824"/>
                    </a:ext>
                  </a:extLst>
                </a:gridCol>
                <a:gridCol w="1190848">
                  <a:extLst>
                    <a:ext uri="{9D8B030D-6E8A-4147-A177-3AD203B41FA5}">
                      <a16:colId xmlns:a16="http://schemas.microsoft.com/office/drawing/2014/main" xmlns="" val="3912704021"/>
                    </a:ext>
                  </a:extLst>
                </a:gridCol>
                <a:gridCol w="1436150">
                  <a:extLst>
                    <a:ext uri="{9D8B030D-6E8A-4147-A177-3AD203B41FA5}">
                      <a16:colId xmlns:a16="http://schemas.microsoft.com/office/drawing/2014/main" xmlns="" val="2231333449"/>
                    </a:ext>
                  </a:extLst>
                </a:gridCol>
              </a:tblGrid>
              <a:tr h="4943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অফিসের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কার্যালয়ের</a:t>
                      </a:r>
                      <a:r>
                        <a:rPr lang="en-US" sz="1200" dirty="0">
                          <a:effectLst/>
                        </a:rPr>
                        <a:t>  </a:t>
                      </a:r>
                      <a:r>
                        <a:rPr lang="en-US" sz="1200" dirty="0" err="1">
                          <a:effectLst/>
                        </a:rPr>
                        <a:t>নাম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৩১১১২০১- </a:t>
                      </a:r>
                      <a:r>
                        <a:rPr lang="en-US" sz="1200" dirty="0" err="1">
                          <a:effectLst/>
                        </a:rPr>
                        <a:t>মূল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বেতন</a:t>
                      </a:r>
                      <a:r>
                        <a:rPr lang="en-US" sz="1200" dirty="0">
                          <a:effectLst/>
                        </a:rPr>
                        <a:t> (</a:t>
                      </a:r>
                      <a:r>
                        <a:rPr lang="en-US" sz="1200" dirty="0" err="1">
                          <a:effectLst/>
                        </a:rPr>
                        <a:t>অফিসার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৩১১১২০১- 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ছুটি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নগদায়ন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বেতন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en-US" sz="1100" dirty="0" err="1">
                          <a:effectLst/>
                        </a:rPr>
                        <a:t>অফিসার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74734141"/>
                  </a:ext>
                </a:extLst>
              </a:tr>
              <a:tr h="1635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প্রকত ব্যয়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চাহিদা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প্রকত ব্যয়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চাহিদা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14816830"/>
                  </a:ext>
                </a:extLst>
              </a:tr>
              <a:tr h="336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2021-22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2022-23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2023-24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2024-25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2021-22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2022-23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2023-24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2024-25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12225194"/>
                  </a:ext>
                </a:extLst>
              </a:tr>
              <a:tr h="4953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আঞ্চলিক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পাসপোর্ট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অফিস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ময়মনসিংহ</a:t>
                      </a:r>
                      <a:r>
                        <a:rPr lang="en-US" sz="1200" dirty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171806955"/>
                  </a:ext>
                </a:extLst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আঞ্চলিক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পাসপোর্ট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অফিস</a:t>
                      </a:r>
                      <a:r>
                        <a:rPr lang="en-US" sz="1100" dirty="0">
                          <a:effectLst/>
                        </a:rPr>
                        <a:t>, </a:t>
                      </a:r>
                      <a:r>
                        <a:rPr lang="en-US" sz="1100" dirty="0" err="1">
                          <a:effectLst/>
                        </a:rPr>
                        <a:t>যাত্রাবাড়ি</a:t>
                      </a:r>
                      <a:r>
                        <a:rPr lang="en-US" sz="1100" dirty="0">
                          <a:effectLst/>
                        </a:rPr>
                        <a:t>, </a:t>
                      </a:r>
                      <a:r>
                        <a:rPr lang="en-US" sz="1100" dirty="0" err="1">
                          <a:effectLst/>
                        </a:rPr>
                        <a:t>ঢাকা</a:t>
                      </a:r>
                      <a:r>
                        <a:rPr lang="en-US" sz="1100" dirty="0">
                          <a:effectLst/>
                        </a:rPr>
                        <a:t>।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4,000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450786145"/>
                  </a:ext>
                </a:extLst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চট্টগ্রাম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রাজশাহী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সিলেট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খুলনা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বরিশাল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95999" y="218952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074886" y="268872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0609580" y="218952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609580" y="268872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901564" y="5965520"/>
            <a:ext cx="1508760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Save as Draft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095999" y="323809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074886" y="373729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074886" y="411747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095999" y="466684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074886" y="516604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0628630" y="323727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0628630" y="373647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619105" y="4146047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0638155" y="4694595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638155" y="5193797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96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310327" y="20434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321023"/>
              </p:ext>
            </p:extLst>
          </p:nvPr>
        </p:nvGraphicFramePr>
        <p:xfrm>
          <a:off x="812801" y="1578928"/>
          <a:ext cx="10322560" cy="51527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424">
                  <a:extLst>
                    <a:ext uri="{9D8B030D-6E8A-4147-A177-3AD203B41FA5}">
                      <a16:colId xmlns:a16="http://schemas.microsoft.com/office/drawing/2014/main" xmlns="" val="2250030146"/>
                    </a:ext>
                  </a:extLst>
                </a:gridCol>
                <a:gridCol w="3377266">
                  <a:extLst>
                    <a:ext uri="{9D8B030D-6E8A-4147-A177-3AD203B41FA5}">
                      <a16:colId xmlns:a16="http://schemas.microsoft.com/office/drawing/2014/main" xmlns="" val="20259239"/>
                    </a:ext>
                  </a:extLst>
                </a:gridCol>
                <a:gridCol w="2013641">
                  <a:extLst>
                    <a:ext uri="{9D8B030D-6E8A-4147-A177-3AD203B41FA5}">
                      <a16:colId xmlns:a16="http://schemas.microsoft.com/office/drawing/2014/main" xmlns="" val="2478916679"/>
                    </a:ext>
                  </a:extLst>
                </a:gridCol>
                <a:gridCol w="2077229">
                  <a:extLst>
                    <a:ext uri="{9D8B030D-6E8A-4147-A177-3AD203B41FA5}">
                      <a16:colId xmlns:a16="http://schemas.microsoft.com/office/drawing/2014/main" xmlns="" val="4070236414"/>
                    </a:ext>
                  </a:extLst>
                </a:gridCol>
              </a:tblGrid>
              <a:tr h="4780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A_©‰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bwZK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Mªyc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/†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KvW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weeiY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    </a:t>
                      </a:r>
                      <a:r>
                        <a:rPr lang="en-US" sz="1600" b="1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cwigvY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(</a:t>
                      </a:r>
                      <a:r>
                        <a:rPr lang="en-US" sz="1600" b="1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nvRvi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UvKvq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          ‡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gvU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            (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nvRvi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UvKvq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93889089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pl-PL" sz="1600" u="sng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 bM` gRywi I †eZb</a:t>
                      </a:r>
                      <a:endParaRPr lang="pl-PL" sz="1600" b="1" i="0" u="sng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129424153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3111101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g~j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†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eZb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(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Awdmvi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)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650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650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44222877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3111201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g~j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†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eZb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(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Kg©Pvix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3,425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3,425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2445048766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3111302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hvZvqvZ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60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60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42694504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3111306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wk¶v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974588807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3111310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evoxfvov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2,200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2,200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9456236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3111311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wPwKrmv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330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330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136274884"/>
                  </a:ext>
                </a:extLst>
              </a:tr>
              <a:tr h="44275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3111313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AvevwmK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†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Uwj‡dvb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bM`vqb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2930398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3111314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wUwdb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23990579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3111316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‡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avjvB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66546815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3111325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Drme fvZv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750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750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2452658799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3111328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kªvwšÍ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I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we‡bv`b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33369465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3111335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evsjv beel© fvZv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98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98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86289382"/>
                  </a:ext>
                </a:extLst>
              </a:tr>
              <a:tr h="44275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3111344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‡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Lvi‡cvl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(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mvm‡cbkb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82673310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3111338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Ab¨vb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¨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3425931782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3111352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we‡kl myweav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204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2214657852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Dc‡gvU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8,193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8,193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35273911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600960" y="101600"/>
            <a:ext cx="6379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SutonnyMJ" pitchFamily="2" charset="0"/>
              </a:rPr>
              <a:t>MYcÖRvZš¿x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evsjv</a:t>
            </a:r>
            <a:r>
              <a:rPr lang="en-US" dirty="0">
                <a:latin typeface="SutonnyMJ" pitchFamily="2" charset="0"/>
              </a:rPr>
              <a:t>‡`k </a:t>
            </a:r>
            <a:r>
              <a:rPr lang="en-US" dirty="0" err="1">
                <a:latin typeface="SutonnyMJ" pitchFamily="2" charset="0"/>
              </a:rPr>
              <a:t>miKvi</a:t>
            </a:r>
            <a:endParaRPr lang="en-US" dirty="0">
              <a:latin typeface="SutonnyMJ" pitchFamily="2" charset="0"/>
            </a:endParaRPr>
          </a:p>
          <a:p>
            <a:pPr algn="ctr"/>
            <a:r>
              <a:rPr lang="en-US" dirty="0" err="1">
                <a:latin typeface="SutonnyMJ" pitchFamily="2" charset="0"/>
              </a:rPr>
              <a:t>Bwg‡Mªkb</a:t>
            </a:r>
            <a:r>
              <a:rPr lang="en-US" dirty="0">
                <a:latin typeface="SutonnyMJ" pitchFamily="2" charset="0"/>
              </a:rPr>
              <a:t> I </a:t>
            </a:r>
            <a:r>
              <a:rPr lang="en-US" dirty="0" err="1">
                <a:latin typeface="SutonnyMJ" pitchFamily="2" charset="0"/>
              </a:rPr>
              <a:t>cvm‡cvU</a:t>
            </a:r>
            <a:r>
              <a:rPr lang="en-US" dirty="0">
                <a:latin typeface="SutonnyMJ" pitchFamily="2" charset="0"/>
              </a:rPr>
              <a:t>© </a:t>
            </a:r>
            <a:r>
              <a:rPr lang="en-US" dirty="0" err="1">
                <a:latin typeface="SutonnyMJ" pitchFamily="2" charset="0"/>
              </a:rPr>
              <a:t>Awa`ßi</a:t>
            </a:r>
            <a:endParaRPr lang="en-US" dirty="0">
              <a:latin typeface="SutonnyMJ" pitchFamily="2" charset="0"/>
            </a:endParaRPr>
          </a:p>
          <a:p>
            <a:pPr algn="ctr"/>
            <a:r>
              <a:rPr lang="en-US" dirty="0">
                <a:latin typeface="SutonnyMJ" pitchFamily="2" charset="0"/>
              </a:rPr>
              <a:t>B-7, </a:t>
            </a:r>
            <a:r>
              <a:rPr lang="en-US" dirty="0" err="1">
                <a:latin typeface="SutonnyMJ" pitchFamily="2" charset="0"/>
              </a:rPr>
              <a:t>AvMviMuvI</a:t>
            </a:r>
            <a:r>
              <a:rPr lang="en-US" dirty="0">
                <a:latin typeface="SutonnyMJ" pitchFamily="2" charset="0"/>
              </a:rPr>
              <a:t>, </a:t>
            </a:r>
            <a:r>
              <a:rPr lang="en-US" dirty="0" err="1">
                <a:latin typeface="SutonnyMJ" pitchFamily="2" charset="0"/>
              </a:rPr>
              <a:t>XvKv</a:t>
            </a:r>
            <a:endParaRPr lang="en-US" dirty="0">
              <a:latin typeface="SutonnyMJ" pitchFamily="2" charset="0"/>
            </a:endParaRPr>
          </a:p>
          <a:p>
            <a:pPr algn="ctr"/>
            <a:r>
              <a:rPr lang="en-US" dirty="0" err="1">
                <a:latin typeface="SutonnyMJ" pitchFamily="2" charset="0"/>
              </a:rPr>
              <a:t>Awd‡mi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bvgt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AvÂwjK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cvm‡cvU</a:t>
            </a:r>
            <a:r>
              <a:rPr lang="en-US" dirty="0">
                <a:latin typeface="SutonnyMJ" pitchFamily="2" charset="0"/>
              </a:rPr>
              <a:t>© </a:t>
            </a:r>
            <a:r>
              <a:rPr lang="en-US" dirty="0" err="1">
                <a:latin typeface="SutonnyMJ" pitchFamily="2" charset="0"/>
              </a:rPr>
              <a:t>Awdm</a:t>
            </a:r>
            <a:r>
              <a:rPr lang="en-US" dirty="0">
                <a:latin typeface="SutonnyMJ" pitchFamily="2" charset="0"/>
              </a:rPr>
              <a:t>, </a:t>
            </a:r>
            <a:r>
              <a:rPr lang="en-US" dirty="0" err="1">
                <a:latin typeface="SutonnyMJ" pitchFamily="2" charset="0"/>
              </a:rPr>
              <a:t>gqgbwmsn</a:t>
            </a:r>
            <a:r>
              <a:rPr lang="en-US" dirty="0">
                <a:latin typeface="SutonnyMJ" pitchFamily="2" charset="0"/>
              </a:rPr>
              <a:t>; </a:t>
            </a:r>
            <a:r>
              <a:rPr lang="en-US" dirty="0" err="1">
                <a:latin typeface="SutonnyMJ" pitchFamily="2" charset="0"/>
              </a:rPr>
              <a:t>Awdm</a:t>
            </a:r>
            <a:r>
              <a:rPr lang="en-US" dirty="0">
                <a:latin typeface="SutonnyMJ" pitchFamily="2" charset="0"/>
              </a:rPr>
              <a:t> †</a:t>
            </a:r>
            <a:r>
              <a:rPr lang="en-US" dirty="0" err="1">
                <a:latin typeface="SutonnyMJ" pitchFamily="2" charset="0"/>
              </a:rPr>
              <a:t>KvW</a:t>
            </a:r>
            <a:r>
              <a:rPr lang="en-US" dirty="0">
                <a:latin typeface="SutonnyMJ" pitchFamily="2" charset="0"/>
              </a:rPr>
              <a:t> bs-133301 </a:t>
            </a:r>
          </a:p>
          <a:p>
            <a:pPr algn="ctr"/>
            <a:r>
              <a:rPr lang="en-US" dirty="0" smtClean="0">
                <a:latin typeface="SutonnyMJ" pitchFamily="2" charset="0"/>
              </a:rPr>
              <a:t>2025-26 </a:t>
            </a:r>
            <a:r>
              <a:rPr lang="en-US" dirty="0">
                <a:latin typeface="SutonnyMJ" pitchFamily="2" charset="0"/>
              </a:rPr>
              <a:t>A</a:t>
            </a:r>
            <a:r>
              <a:rPr lang="en-US" dirty="0" smtClean="0">
                <a:latin typeface="SutonnyMJ" pitchFamily="2" charset="0"/>
              </a:rPr>
              <a:t>_ ©</a:t>
            </a:r>
            <a:r>
              <a:rPr lang="en-US" dirty="0" err="1">
                <a:latin typeface="SutonnyMJ" pitchFamily="2" charset="0"/>
              </a:rPr>
              <a:t>eQ‡ii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ev‡RU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eivÏ</a:t>
            </a:r>
            <a:r>
              <a:rPr lang="en-US" dirty="0">
                <a:latin typeface="SutonnyMJ" pitchFamily="2" charset="0"/>
              </a:rPr>
              <a:t> (</a:t>
            </a:r>
            <a:r>
              <a:rPr lang="en-US" dirty="0" err="1">
                <a:latin typeface="SutonnyMJ" pitchFamily="2" charset="0"/>
              </a:rPr>
              <a:t>eivÏ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bs</a:t>
            </a:r>
            <a:r>
              <a:rPr lang="en-US" dirty="0">
                <a:latin typeface="SutonnyMJ" pitchFamily="2" charset="0"/>
              </a:rPr>
              <a:t>- </a:t>
            </a:r>
            <a:r>
              <a:rPr lang="en-US" dirty="0" smtClean="0">
                <a:latin typeface="SutonnyMJ" pitchFamily="2" charset="0"/>
              </a:rPr>
              <a:t>1)|</a:t>
            </a:r>
            <a:endParaRPr lang="en-US" dirty="0">
              <a:latin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2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93306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" sz="32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Adjustment by HQ</a:t>
            </a:r>
            <a:endParaRPr lang="en" sz="3200" b="1" dirty="0">
              <a:solidFill>
                <a:schemeClr val="dk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609585" algn="ctr"/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106692"/>
              </p:ext>
            </p:extLst>
          </p:nvPr>
        </p:nvGraphicFramePr>
        <p:xfrm>
          <a:off x="582612" y="930117"/>
          <a:ext cx="10984548" cy="44603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92622">
                  <a:extLst>
                    <a:ext uri="{9D8B030D-6E8A-4147-A177-3AD203B41FA5}">
                      <a16:colId xmlns:a16="http://schemas.microsoft.com/office/drawing/2014/main" xmlns="" val="2909289390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xmlns="" val="844330606"/>
                    </a:ext>
                  </a:extLst>
                </a:gridCol>
                <a:gridCol w="712269">
                  <a:extLst>
                    <a:ext uri="{9D8B030D-6E8A-4147-A177-3AD203B41FA5}">
                      <a16:colId xmlns:a16="http://schemas.microsoft.com/office/drawing/2014/main" xmlns="" val="1004075690"/>
                    </a:ext>
                  </a:extLst>
                </a:gridCol>
                <a:gridCol w="702644">
                  <a:extLst>
                    <a:ext uri="{9D8B030D-6E8A-4147-A177-3AD203B41FA5}">
                      <a16:colId xmlns:a16="http://schemas.microsoft.com/office/drawing/2014/main" xmlns="" val="3220522913"/>
                    </a:ext>
                  </a:extLst>
                </a:gridCol>
                <a:gridCol w="1232034">
                  <a:extLst>
                    <a:ext uri="{9D8B030D-6E8A-4147-A177-3AD203B41FA5}">
                      <a16:colId xmlns:a16="http://schemas.microsoft.com/office/drawing/2014/main" xmlns="" val="1605569058"/>
                    </a:ext>
                  </a:extLst>
                </a:gridCol>
                <a:gridCol w="904775">
                  <a:extLst>
                    <a:ext uri="{9D8B030D-6E8A-4147-A177-3AD203B41FA5}">
                      <a16:colId xmlns:a16="http://schemas.microsoft.com/office/drawing/2014/main" xmlns="" val="2402697574"/>
                    </a:ext>
                  </a:extLst>
                </a:gridCol>
                <a:gridCol w="972151">
                  <a:extLst>
                    <a:ext uri="{9D8B030D-6E8A-4147-A177-3AD203B41FA5}">
                      <a16:colId xmlns:a16="http://schemas.microsoft.com/office/drawing/2014/main" xmlns="" val="868884824"/>
                    </a:ext>
                  </a:extLst>
                </a:gridCol>
                <a:gridCol w="823381">
                  <a:extLst>
                    <a:ext uri="{9D8B030D-6E8A-4147-A177-3AD203B41FA5}">
                      <a16:colId xmlns:a16="http://schemas.microsoft.com/office/drawing/2014/main" xmlns="" val="3912704021"/>
                    </a:ext>
                  </a:extLst>
                </a:gridCol>
                <a:gridCol w="1436150">
                  <a:extLst>
                    <a:ext uri="{9D8B030D-6E8A-4147-A177-3AD203B41FA5}">
                      <a16:colId xmlns:a16="http://schemas.microsoft.com/office/drawing/2014/main" xmlns="" val="2231333449"/>
                    </a:ext>
                  </a:extLst>
                </a:gridCol>
              </a:tblGrid>
              <a:tr h="4943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অফিসের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কার্যালয়ের</a:t>
                      </a:r>
                      <a:r>
                        <a:rPr lang="en-US" sz="1200" dirty="0">
                          <a:effectLst/>
                        </a:rPr>
                        <a:t>  </a:t>
                      </a:r>
                      <a:r>
                        <a:rPr lang="en-US" sz="1200" dirty="0" err="1">
                          <a:effectLst/>
                        </a:rPr>
                        <a:t>নাম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৩১১১২০১- </a:t>
                      </a:r>
                      <a:r>
                        <a:rPr lang="en-US" sz="1200" dirty="0" err="1">
                          <a:effectLst/>
                        </a:rPr>
                        <a:t>মূল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বেতন</a:t>
                      </a:r>
                      <a:r>
                        <a:rPr lang="en-US" sz="1200" dirty="0">
                          <a:effectLst/>
                        </a:rPr>
                        <a:t> (</a:t>
                      </a:r>
                      <a:r>
                        <a:rPr lang="en-US" sz="1200" dirty="0" err="1">
                          <a:effectLst/>
                        </a:rPr>
                        <a:t>অফিসার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৩১১১২০১- 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ছুটি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নগদায়ন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বেতন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en-US" sz="1100" dirty="0" err="1">
                          <a:effectLst/>
                        </a:rPr>
                        <a:t>অফিসার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74734141"/>
                  </a:ext>
                </a:extLst>
              </a:tr>
              <a:tr h="1635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প্রকত ব্যয়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চাহিদা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প্রকত ব্যয়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চাহিদা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14816830"/>
                  </a:ext>
                </a:extLst>
              </a:tr>
              <a:tr h="336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2021-22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2022-23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2023-24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2024-25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2021-22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2022-23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2023-24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2024-25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12225194"/>
                  </a:ext>
                </a:extLst>
              </a:tr>
              <a:tr h="4953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আঞ্চলিক পাসপোর্ট অফিস, ময়মনসিংহ। 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171806955"/>
                  </a:ext>
                </a:extLst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আঞ্চলিক পাসপোর্ট অফিস, যাত্রাবাড়ি, ঢাকা।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4,000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450786145"/>
                  </a:ext>
                </a:extLst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চট্টগ্রাম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রাজশাহী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4,000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সিলেট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খুলনা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4,000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বরিশাল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509888" y="213177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517650" y="263097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0638455" y="213177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638455" y="263097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933748" y="6158727"/>
            <a:ext cx="1760221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Approved by DG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09888" y="3091674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17650" y="3590876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502126" y="4039436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09888" y="453863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502126" y="498719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638455" y="3060003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638455" y="3559205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0638455" y="4029811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638455" y="450013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0638455" y="498719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70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93306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" sz="32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Additional Budget Distribution by Manual System</a:t>
            </a:r>
          </a:p>
          <a:p>
            <a:pPr marL="609585" algn="ctr"/>
            <a:endParaRPr sz="3200" b="1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6" name="object 3"/>
          <p:cNvSpPr txBox="1"/>
          <p:nvPr/>
        </p:nvSpPr>
        <p:spPr>
          <a:xfrm>
            <a:off x="889270" y="1943837"/>
            <a:ext cx="10516667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Additional Budget Proposal Sent by RPO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Additional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Budget Proposal Entry in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E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xcel Sheet for Distribution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Budget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Adjustment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Additional Allotment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Sheet Prepare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27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-186612" y="2248678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" sz="72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Additional Budget Distribution by e-System</a:t>
            </a:r>
            <a:endParaRPr lang="en" sz="7200" b="1" dirty="0">
              <a:solidFill>
                <a:schemeClr val="dk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609585" algn="ctr"/>
            <a:endParaRPr sz="28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endParaRPr sz="28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679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93306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" sz="3200" b="1" dirty="0" smtClean="0">
                <a:solidFill>
                  <a:schemeClr val="dk1"/>
                </a:solidFill>
                <a:latin typeface="Calibri (Body)"/>
                <a:ea typeface="Verdana" panose="020B0604030504040204" pitchFamily="34" charset="0"/>
                <a:cs typeface="Times New Roman"/>
                <a:sym typeface="Times New Roman"/>
              </a:rPr>
              <a:t>Additional Budget </a:t>
            </a:r>
            <a:r>
              <a:rPr lang="en" sz="3200" b="1" dirty="0">
                <a:solidFill>
                  <a:schemeClr val="dk1"/>
                </a:solidFill>
                <a:latin typeface="Calibri (Body)"/>
                <a:ea typeface="Verdana" panose="020B0604030504040204" pitchFamily="34" charset="0"/>
                <a:cs typeface="Times New Roman"/>
                <a:sym typeface="Times New Roman"/>
              </a:rPr>
              <a:t>Proposal Entry by Unit Office</a:t>
            </a:r>
          </a:p>
          <a:p>
            <a:pPr marL="609585" algn="ctr"/>
            <a:endParaRPr sz="3200" b="1" dirty="0">
              <a:latin typeface="Calibri (Body)"/>
              <a:ea typeface="Verdana" panose="020B0604030504040204" pitchFamily="34" charset="0"/>
              <a:cs typeface="Times New Roman"/>
              <a:sym typeface="Times New Roman"/>
            </a:endParaRPr>
          </a:p>
          <a:p>
            <a:endParaRPr sz="3200" b="1" dirty="0">
              <a:latin typeface="Calibri (Body)"/>
              <a:ea typeface="Verdana" panose="020B0604030504040204" pitchFamily="34" charset="0"/>
              <a:cs typeface="Times New Roman"/>
              <a:sym typeface="Times New Roman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101352"/>
              </p:ext>
            </p:extLst>
          </p:nvPr>
        </p:nvGraphicFramePr>
        <p:xfrm>
          <a:off x="631805" y="985130"/>
          <a:ext cx="11257343" cy="49804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5021">
                  <a:extLst>
                    <a:ext uri="{9D8B030D-6E8A-4147-A177-3AD203B41FA5}">
                      <a16:colId xmlns:a16="http://schemas.microsoft.com/office/drawing/2014/main" xmlns="" val="3983431640"/>
                    </a:ext>
                  </a:extLst>
                </a:gridCol>
                <a:gridCol w="1847462">
                  <a:extLst>
                    <a:ext uri="{9D8B030D-6E8A-4147-A177-3AD203B41FA5}">
                      <a16:colId xmlns:a16="http://schemas.microsoft.com/office/drawing/2014/main" xmlns="" val="3112301428"/>
                    </a:ext>
                  </a:extLst>
                </a:gridCol>
                <a:gridCol w="1847462">
                  <a:extLst>
                    <a:ext uri="{9D8B030D-6E8A-4147-A177-3AD203B41FA5}">
                      <a16:colId xmlns:a16="http://schemas.microsoft.com/office/drawing/2014/main" xmlns="" val="2977787534"/>
                    </a:ext>
                  </a:extLst>
                </a:gridCol>
                <a:gridCol w="1515740">
                  <a:extLst>
                    <a:ext uri="{9D8B030D-6E8A-4147-A177-3AD203B41FA5}">
                      <a16:colId xmlns:a16="http://schemas.microsoft.com/office/drawing/2014/main" xmlns="" val="214044494"/>
                    </a:ext>
                  </a:extLst>
                </a:gridCol>
                <a:gridCol w="1457869">
                  <a:extLst>
                    <a:ext uri="{9D8B030D-6E8A-4147-A177-3AD203B41FA5}">
                      <a16:colId xmlns:a16="http://schemas.microsoft.com/office/drawing/2014/main" xmlns="" val="247913186"/>
                    </a:ext>
                  </a:extLst>
                </a:gridCol>
                <a:gridCol w="1634874">
                  <a:extLst>
                    <a:ext uri="{9D8B030D-6E8A-4147-A177-3AD203B41FA5}">
                      <a16:colId xmlns:a16="http://schemas.microsoft.com/office/drawing/2014/main" xmlns="" val="627003578"/>
                    </a:ext>
                  </a:extLst>
                </a:gridCol>
                <a:gridCol w="1178915">
                  <a:extLst>
                    <a:ext uri="{9D8B030D-6E8A-4147-A177-3AD203B41FA5}">
                      <a16:colId xmlns:a16="http://schemas.microsoft.com/office/drawing/2014/main" xmlns="" val="3426079334"/>
                    </a:ext>
                  </a:extLst>
                </a:gridCol>
              </a:tblGrid>
              <a:tr h="41690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baseline="0" dirty="0" err="1">
                          <a:effectLst/>
                        </a:rPr>
                        <a:t>অর্থনৈতিক</a:t>
                      </a:r>
                      <a:r>
                        <a:rPr lang="en-US" sz="1400" b="1" baseline="0" dirty="0">
                          <a:effectLst/>
                        </a:rPr>
                        <a:t> </a:t>
                      </a:r>
                      <a:r>
                        <a:rPr lang="en-US" sz="1400" b="1" baseline="0" dirty="0" err="1">
                          <a:effectLst/>
                        </a:rPr>
                        <a:t>কোড</a:t>
                      </a:r>
                      <a:r>
                        <a:rPr lang="en-US" sz="1400" b="1" baseline="0" dirty="0">
                          <a:effectLst/>
                        </a:rPr>
                        <a:t>  </a:t>
                      </a:r>
                      <a:r>
                        <a:rPr lang="en-US" sz="1400" b="1" baseline="0" dirty="0" err="1">
                          <a:effectLst/>
                        </a:rPr>
                        <a:t>নং</a:t>
                      </a:r>
                      <a:endParaRPr lang="en-US" sz="1400" b="1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baseline="0" dirty="0" err="1">
                          <a:effectLst/>
                        </a:rPr>
                        <a:t>বিবরণ</a:t>
                      </a:r>
                      <a:endParaRPr lang="en-US" sz="1400" b="1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effectLst/>
                          <a:latin typeface="SutonnyMJ" pitchFamily="2" charset="0"/>
                        </a:rPr>
                        <a:t>AwZwi³ </a:t>
                      </a:r>
                      <a:r>
                        <a:rPr lang="en-US" sz="1800" dirty="0" err="1" smtClean="0">
                          <a:effectLst/>
                          <a:latin typeface="SutonnyMJ" pitchFamily="2" charset="0"/>
                        </a:rPr>
                        <a:t>Pvwn`v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 </a:t>
                      </a:r>
                      <a:endParaRPr lang="en-US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2024-25</a:t>
                      </a:r>
                      <a:endParaRPr lang="en-US" sz="200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baseline="0" dirty="0" err="1" smtClean="0">
                          <a:effectLst/>
                        </a:rPr>
                        <a:t>মন্তব্য</a:t>
                      </a:r>
                      <a:r>
                        <a:rPr lang="en-US" sz="1400" b="1" baseline="0" dirty="0" smtClean="0">
                          <a:effectLst/>
                        </a:rPr>
                        <a:t>/</a:t>
                      </a:r>
                      <a:r>
                        <a:rPr lang="en-US" sz="1400" b="1" baseline="0" dirty="0" err="1" smtClean="0">
                          <a:effectLst/>
                        </a:rPr>
                        <a:t>ব্যাখ্যা</a:t>
                      </a:r>
                      <a:r>
                        <a:rPr lang="en-US" sz="1400" b="1" baseline="0" dirty="0">
                          <a:effectLst/>
                        </a:rPr>
                        <a:t> </a:t>
                      </a:r>
                      <a:endParaRPr lang="en-US" sz="1400" b="1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7771256"/>
                  </a:ext>
                </a:extLst>
              </a:tr>
              <a:tr h="574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</a:rPr>
                        <a:t>eivÏ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</a:rPr>
                        <a:t>প্রকত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</a:rPr>
                        <a:t>ব্যয়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Aewkó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  <a:latin typeface="SutonnyMJ" pitchFamily="2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37200744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৩১১১১০১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মূল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</a:rPr>
                        <a:t>বেতন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1234080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2234080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032717348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৩১১১৩১০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বাড়ি ভাড়া ভাতা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1132080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1132080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1133080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3133080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235530701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৩১১১৩১১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চিকিৎসা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</a:rPr>
                        <a:t>ভাতা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1032080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1032080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1032080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4032080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24172695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৩১১১৩২৫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উৎসব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</a:rPr>
                        <a:t>ভাতা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12320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12320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12220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52220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 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862749647"/>
                  </a:ext>
                </a:extLst>
              </a:tr>
              <a:tr h="4958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৩২১১১০৪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আনুষঙ্গিক</a:t>
                      </a:r>
                      <a:r>
                        <a:rPr lang="en-US" sz="1400" baseline="0" dirty="0">
                          <a:effectLst/>
                        </a:rPr>
                        <a:t> </a:t>
                      </a:r>
                      <a:r>
                        <a:rPr lang="en-US" sz="1400" baseline="0" dirty="0" err="1">
                          <a:effectLst/>
                        </a:rPr>
                        <a:t>কর্মচারি</a:t>
                      </a:r>
                      <a:r>
                        <a:rPr lang="en-US" sz="1400" baseline="0" dirty="0">
                          <a:effectLst/>
                        </a:rPr>
                        <a:t>/</a:t>
                      </a:r>
                      <a:r>
                        <a:rPr lang="en-US" sz="1400" baseline="0" dirty="0" err="1">
                          <a:effectLst/>
                        </a:rPr>
                        <a:t>প্রতিষ্ঠান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37646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37646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37746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67746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156025778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৩২১১১১৩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বিদ্যু</a:t>
                      </a:r>
                      <a:r>
                        <a:rPr lang="en-US" sz="1400" baseline="0" dirty="0">
                          <a:effectLst/>
                        </a:rPr>
                        <a:t>ৎ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17396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17396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18396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88396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62714975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৩২৪৩১০২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গ্যাস</a:t>
                      </a:r>
                      <a:r>
                        <a:rPr lang="en-US" sz="1400" baseline="0" dirty="0">
                          <a:effectLst/>
                        </a:rPr>
                        <a:t> ও </a:t>
                      </a:r>
                      <a:r>
                        <a:rPr lang="en-US" sz="1400" baseline="0" dirty="0" err="1">
                          <a:effectLst/>
                        </a:rPr>
                        <a:t>জ্বালানি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87646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87646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89646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99646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76004033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৩২৫৫১০৫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মনিহারি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47646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47646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46646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36646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418722070"/>
                  </a:ext>
                </a:extLst>
              </a:tr>
              <a:tr h="436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৪১১২৩১৪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err="1">
                          <a:effectLst/>
                        </a:rPr>
                        <a:t>আসবাবপত্র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57646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57646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>
                          <a:effectLst/>
                        </a:rPr>
                        <a:t>59646</a:t>
                      </a:r>
                      <a:endParaRPr lang="en-US" sz="1400" baseline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99646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effectLst/>
                        </a:rPr>
                        <a:t> </a:t>
                      </a:r>
                      <a:endParaRPr lang="en-US" sz="1400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46921466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310327" y="20434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319259" y="1991888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319259" y="2438978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319259" y="2855588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9319259" y="3312838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9319259" y="3808036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9319259" y="4260206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9319259" y="4707296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9319259" y="5134066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9319259" y="5592717"/>
            <a:ext cx="1115639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560" y="6024484"/>
            <a:ext cx="2035834" cy="65146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04220" y="198867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904220" y="243576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0904220" y="285237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0904220" y="3309628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0904220" y="3804826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0904220" y="4256996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0904220" y="4704086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0904220" y="5130856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0904220" y="5589507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82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93306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" sz="3200" b="1" dirty="0" smtClean="0">
                <a:solidFill>
                  <a:schemeClr val="accent2"/>
                </a:solidFill>
                <a:latin typeface="Calibri (Body)"/>
                <a:ea typeface="Verdana" panose="020B0604030504040204" pitchFamily="34" charset="0"/>
                <a:cs typeface="Times New Roman"/>
                <a:sym typeface="Times New Roman"/>
              </a:rPr>
              <a:t>Additional Demand Adjustment by HQ</a:t>
            </a:r>
            <a:endParaRPr lang="en" sz="3200" b="1" dirty="0">
              <a:solidFill>
                <a:schemeClr val="accent2"/>
              </a:solidFill>
              <a:latin typeface="Calibri (Body)"/>
              <a:ea typeface="Verdana" panose="020B0604030504040204" pitchFamily="34" charset="0"/>
              <a:cs typeface="Times New Roman"/>
              <a:sym typeface="Times New Roman"/>
            </a:endParaRPr>
          </a:p>
          <a:p>
            <a:pPr marL="609585" algn="ctr"/>
            <a:endParaRPr sz="3200" b="1" dirty="0">
              <a:latin typeface="Calibri (Body)"/>
              <a:ea typeface="Verdana" panose="020B0604030504040204" pitchFamily="34" charset="0"/>
              <a:cs typeface="Times New Roman"/>
              <a:sym typeface="Times New Roman"/>
            </a:endParaRPr>
          </a:p>
          <a:p>
            <a:endParaRPr sz="3200" b="1" dirty="0">
              <a:latin typeface="Calibri (Body)"/>
              <a:ea typeface="Verdana" panose="020B0604030504040204" pitchFamily="34" charset="0"/>
              <a:cs typeface="Times New Roman"/>
              <a:sym typeface="Times New Roman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315710"/>
              </p:ext>
            </p:extLst>
          </p:nvPr>
        </p:nvGraphicFramePr>
        <p:xfrm>
          <a:off x="582612" y="930117"/>
          <a:ext cx="10984548" cy="41335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1213">
                  <a:extLst>
                    <a:ext uri="{9D8B030D-6E8A-4147-A177-3AD203B41FA5}">
                      <a16:colId xmlns:a16="http://schemas.microsoft.com/office/drawing/2014/main" xmlns="" val="290928939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xmlns="" val="844330606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xmlns="" val="1004075690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xmlns="" val="322052291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xmlns="" val="1605569058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xmlns="" val="2402697574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xmlns="" val="868884824"/>
                    </a:ext>
                  </a:extLst>
                </a:gridCol>
                <a:gridCol w="767935">
                  <a:extLst>
                    <a:ext uri="{9D8B030D-6E8A-4147-A177-3AD203B41FA5}">
                      <a16:colId xmlns:a16="http://schemas.microsoft.com/office/drawing/2014/main" xmlns="" val="3912704021"/>
                    </a:ext>
                  </a:extLst>
                </a:gridCol>
                <a:gridCol w="1436150">
                  <a:extLst>
                    <a:ext uri="{9D8B030D-6E8A-4147-A177-3AD203B41FA5}">
                      <a16:colId xmlns:a16="http://schemas.microsoft.com/office/drawing/2014/main" xmlns="" val="2231333449"/>
                    </a:ext>
                  </a:extLst>
                </a:gridCol>
              </a:tblGrid>
              <a:tr h="4943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</a:rPr>
                        <a:t>অফিসের</a:t>
                      </a:r>
                      <a:r>
                        <a:rPr lang="en-US" sz="1200" dirty="0" smtClean="0">
                          <a:effectLst/>
                        </a:rPr>
                        <a:t>/</a:t>
                      </a:r>
                      <a:r>
                        <a:rPr lang="en-US" sz="1200" dirty="0" err="1" smtClean="0">
                          <a:effectLst/>
                        </a:rPr>
                        <a:t>কার্যালয়ের</a:t>
                      </a:r>
                      <a:r>
                        <a:rPr lang="en-US" sz="1200" dirty="0" smtClean="0">
                          <a:effectLst/>
                        </a:rPr>
                        <a:t>  </a:t>
                      </a:r>
                      <a:r>
                        <a:rPr lang="en-US" sz="1200" dirty="0" err="1">
                          <a:effectLst/>
                        </a:rPr>
                        <a:t>নাম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৩১১১২০১- </a:t>
                      </a:r>
                      <a:r>
                        <a:rPr lang="en-US" sz="1200" dirty="0" err="1">
                          <a:effectLst/>
                        </a:rPr>
                        <a:t>মূল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বেতন</a:t>
                      </a:r>
                      <a:r>
                        <a:rPr lang="en-US" sz="1200" dirty="0">
                          <a:effectLst/>
                        </a:rPr>
                        <a:t> (</a:t>
                      </a:r>
                      <a:r>
                        <a:rPr lang="en-US" sz="1200" dirty="0" err="1">
                          <a:effectLst/>
                        </a:rPr>
                        <a:t>অফিসার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৩১১১২০১- </a:t>
                      </a:r>
                      <a:r>
                        <a:rPr lang="en-US" sz="1100" dirty="0" err="1" smtClean="0">
                          <a:effectLst/>
                        </a:rPr>
                        <a:t>ছুটি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নগদায়ন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বেতন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en-US" sz="1100" dirty="0" err="1">
                          <a:effectLst/>
                        </a:rPr>
                        <a:t>অফিসার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74734141"/>
                  </a:ext>
                </a:extLst>
              </a:tr>
              <a:tr h="336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eivÏ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প্রকত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ব্যয়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Aewkó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AwZwi³ </a:t>
                      </a: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Pvwn`v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eivÏ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প্রকত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ব্যয়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Aewkó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AwZwi³ </a:t>
                      </a: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Pvwn`v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12225194"/>
                  </a:ext>
                </a:extLst>
              </a:tr>
              <a:tr h="4953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আঞ্চলিক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পাসপোর্ট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অফিস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ময়মনসিংহ</a:t>
                      </a:r>
                      <a:r>
                        <a:rPr lang="en-US" sz="1200" dirty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171806955"/>
                  </a:ext>
                </a:extLst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ঢাকা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450786145"/>
                  </a:ext>
                </a:extLst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চট্টগ্রাম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রাজশাহী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সিলেট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খুলনা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বরিশাল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931528" y="1855445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935561" y="2330263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0657205" y="178837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657205" y="2278047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368589" y="5709921"/>
            <a:ext cx="1760221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as </a:t>
            </a:r>
            <a:r>
              <a:rPr lang="en-US" dirty="0" smtClean="0"/>
              <a:t>Draft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932071" y="2796896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941438" y="3259522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945025" y="3712820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948296" y="4212022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942358" y="4648175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657205" y="2731345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657205" y="322102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0666730" y="367432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666730" y="4163997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0666730" y="4617295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14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310327" y="20434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714936"/>
              </p:ext>
            </p:extLst>
          </p:nvPr>
        </p:nvGraphicFramePr>
        <p:xfrm>
          <a:off x="812801" y="1578928"/>
          <a:ext cx="10322560" cy="51527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3349">
                  <a:extLst>
                    <a:ext uri="{9D8B030D-6E8A-4147-A177-3AD203B41FA5}">
                      <a16:colId xmlns:a16="http://schemas.microsoft.com/office/drawing/2014/main" xmlns="" val="2250030146"/>
                    </a:ext>
                  </a:extLst>
                </a:gridCol>
                <a:gridCol w="2514400">
                  <a:extLst>
                    <a:ext uri="{9D8B030D-6E8A-4147-A177-3AD203B41FA5}">
                      <a16:colId xmlns:a16="http://schemas.microsoft.com/office/drawing/2014/main" xmlns="" val="20259239"/>
                    </a:ext>
                  </a:extLst>
                </a:gridCol>
                <a:gridCol w="1676313">
                  <a:extLst>
                    <a:ext uri="{9D8B030D-6E8A-4147-A177-3AD203B41FA5}">
                      <a16:colId xmlns:a16="http://schemas.microsoft.com/office/drawing/2014/main" xmlns="" val="2478916679"/>
                    </a:ext>
                  </a:extLst>
                </a:gridCol>
                <a:gridCol w="1729249"/>
                <a:gridCol w="1729249">
                  <a:extLst>
                    <a:ext uri="{9D8B030D-6E8A-4147-A177-3AD203B41FA5}">
                      <a16:colId xmlns:a16="http://schemas.microsoft.com/office/drawing/2014/main" xmlns="" val="4070236414"/>
                    </a:ext>
                  </a:extLst>
                </a:gridCol>
              </a:tblGrid>
              <a:tr h="4780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A_©‰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bwZK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Mªyc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/†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KvW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weeiY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    </a:t>
                      </a:r>
                      <a:r>
                        <a:rPr lang="en-US" sz="1600" b="1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c~e©eZ©x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b="1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eivÏ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(</a:t>
                      </a:r>
                      <a:r>
                        <a:rPr lang="en-US" sz="1600" b="1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nvRvi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UvKvq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AwZwi³ </a:t>
                      </a:r>
                      <a:r>
                        <a:rPr lang="en-US" sz="1600" b="1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eivÏ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(</a:t>
                      </a:r>
                      <a:r>
                        <a:rPr lang="en-US" sz="1600" b="1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nvRvi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b="1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UvKvq</a:t>
                      </a:r>
                      <a:r>
                        <a:rPr lang="en-US" sz="16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          ‡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gvU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            (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nvRvi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b="1" u="none" strike="noStrike" dirty="0" err="1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UvKvq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93889089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sng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pl-PL" sz="1600" u="sng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3111 </a:t>
                      </a:r>
                      <a:r>
                        <a:rPr lang="pl-PL" sz="1600" u="sng" strike="noStrike" dirty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bM` gRywi I †eZb</a:t>
                      </a:r>
                      <a:endParaRPr lang="pl-PL" sz="1600" b="1" i="0" u="sng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29424153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3111101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g~j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†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eZb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(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Awdmvi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)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650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650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650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644222877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3111201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g~j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†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eZb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(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Kg©Pvix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)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3,425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3,425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3,425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45048766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3111302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hvZvqvZ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60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60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60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642694504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3111306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wk¶v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74588807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3111310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evoxfvov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2,200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2,200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2,200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2289456236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3111311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wPwKrmv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330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330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330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36274884"/>
                  </a:ext>
                </a:extLst>
              </a:tr>
              <a:tr h="44275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3111313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AvevwmK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†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Uwj‡dvb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bM`vqb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52930398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3111314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wUwdb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90579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3111316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‡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avjvB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66546815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3111325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Drme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750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750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750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52658799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3111328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kªvwšÍ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I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we‡bv`b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833369465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3111335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evsjv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beel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©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98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98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98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86289382"/>
                  </a:ext>
                </a:extLst>
              </a:tr>
              <a:tr h="44275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3111344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‡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Lvi‡cvl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(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mvm‡cbkb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982673310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3111338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Ab¨vb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¨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fvZv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25931782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solidFill>
                            <a:schemeClr val="bg1"/>
                          </a:solidFill>
                          <a:effectLst/>
                          <a:latin typeface="SutonnyMJ" pitchFamily="2" charset="0"/>
                        </a:rPr>
                        <a:t> 3111352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we‡kl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myweav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2214657852"/>
                  </a:ext>
                </a:extLst>
              </a:tr>
              <a:tr h="242713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 err="1" smtClean="0">
                          <a:effectLst/>
                          <a:latin typeface="SutonnyMJ" pitchFamily="2" charset="0"/>
                        </a:rPr>
                        <a:t>Dc‡gvU</a:t>
                      </a:r>
                      <a:r>
                        <a:rPr lang="en-US" sz="1600" u="none" strike="noStrike" dirty="0" smtClean="0">
                          <a:effectLst/>
                          <a:latin typeface="SutonnyMJ" pitchFamily="2" charset="0"/>
                        </a:rPr>
                        <a:t>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8,193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8,193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8,193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35273911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600960" y="101600"/>
            <a:ext cx="6379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SutonnyMJ" pitchFamily="2" charset="0"/>
              </a:rPr>
              <a:t>MYcÖRvZš¿x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evsjv</a:t>
            </a:r>
            <a:r>
              <a:rPr lang="en-US" dirty="0">
                <a:latin typeface="SutonnyMJ" pitchFamily="2" charset="0"/>
              </a:rPr>
              <a:t>‡`k </a:t>
            </a:r>
            <a:r>
              <a:rPr lang="en-US" dirty="0" err="1">
                <a:latin typeface="SutonnyMJ" pitchFamily="2" charset="0"/>
              </a:rPr>
              <a:t>miKvi</a:t>
            </a:r>
            <a:endParaRPr lang="en-US" dirty="0">
              <a:latin typeface="SutonnyMJ" pitchFamily="2" charset="0"/>
            </a:endParaRPr>
          </a:p>
          <a:p>
            <a:pPr algn="ctr"/>
            <a:r>
              <a:rPr lang="en-US" dirty="0" err="1">
                <a:latin typeface="SutonnyMJ" pitchFamily="2" charset="0"/>
              </a:rPr>
              <a:t>Bwg‡Mªkb</a:t>
            </a:r>
            <a:r>
              <a:rPr lang="en-US" dirty="0">
                <a:latin typeface="SutonnyMJ" pitchFamily="2" charset="0"/>
              </a:rPr>
              <a:t> I </a:t>
            </a:r>
            <a:r>
              <a:rPr lang="en-US" dirty="0" err="1">
                <a:latin typeface="SutonnyMJ" pitchFamily="2" charset="0"/>
              </a:rPr>
              <a:t>cvm‡cvU</a:t>
            </a:r>
            <a:r>
              <a:rPr lang="en-US" dirty="0">
                <a:latin typeface="SutonnyMJ" pitchFamily="2" charset="0"/>
              </a:rPr>
              <a:t>© </a:t>
            </a:r>
            <a:r>
              <a:rPr lang="en-US" dirty="0" err="1">
                <a:latin typeface="SutonnyMJ" pitchFamily="2" charset="0"/>
              </a:rPr>
              <a:t>Awa`ßi</a:t>
            </a:r>
            <a:endParaRPr lang="en-US" dirty="0">
              <a:latin typeface="SutonnyMJ" pitchFamily="2" charset="0"/>
            </a:endParaRPr>
          </a:p>
          <a:p>
            <a:pPr algn="ctr"/>
            <a:r>
              <a:rPr lang="en-US" dirty="0">
                <a:latin typeface="SutonnyMJ" pitchFamily="2" charset="0"/>
              </a:rPr>
              <a:t>B-7, </a:t>
            </a:r>
            <a:r>
              <a:rPr lang="en-US" dirty="0" err="1">
                <a:latin typeface="SutonnyMJ" pitchFamily="2" charset="0"/>
              </a:rPr>
              <a:t>AvMviMuvI</a:t>
            </a:r>
            <a:r>
              <a:rPr lang="en-US" dirty="0">
                <a:latin typeface="SutonnyMJ" pitchFamily="2" charset="0"/>
              </a:rPr>
              <a:t>, </a:t>
            </a:r>
            <a:r>
              <a:rPr lang="en-US" dirty="0" err="1">
                <a:latin typeface="SutonnyMJ" pitchFamily="2" charset="0"/>
              </a:rPr>
              <a:t>XvKv</a:t>
            </a:r>
            <a:endParaRPr lang="en-US" dirty="0">
              <a:latin typeface="SutonnyMJ" pitchFamily="2" charset="0"/>
            </a:endParaRPr>
          </a:p>
          <a:p>
            <a:pPr algn="ctr"/>
            <a:r>
              <a:rPr lang="en-US" dirty="0" err="1">
                <a:latin typeface="SutonnyMJ" pitchFamily="2" charset="0"/>
              </a:rPr>
              <a:t>Awd‡mi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bvgt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AvÂwjK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cvm‡cvU</a:t>
            </a:r>
            <a:r>
              <a:rPr lang="en-US" dirty="0">
                <a:latin typeface="SutonnyMJ" pitchFamily="2" charset="0"/>
              </a:rPr>
              <a:t>© </a:t>
            </a:r>
            <a:r>
              <a:rPr lang="en-US" dirty="0" err="1">
                <a:latin typeface="SutonnyMJ" pitchFamily="2" charset="0"/>
              </a:rPr>
              <a:t>Awdm</a:t>
            </a:r>
            <a:r>
              <a:rPr lang="en-US" dirty="0">
                <a:latin typeface="SutonnyMJ" pitchFamily="2" charset="0"/>
              </a:rPr>
              <a:t>, </a:t>
            </a:r>
            <a:r>
              <a:rPr lang="en-US" dirty="0" err="1">
                <a:latin typeface="SutonnyMJ" pitchFamily="2" charset="0"/>
              </a:rPr>
              <a:t>gqgbwmsn</a:t>
            </a:r>
            <a:r>
              <a:rPr lang="en-US" dirty="0">
                <a:latin typeface="SutonnyMJ" pitchFamily="2" charset="0"/>
              </a:rPr>
              <a:t>; </a:t>
            </a:r>
            <a:r>
              <a:rPr lang="en-US" dirty="0" err="1">
                <a:latin typeface="SutonnyMJ" pitchFamily="2" charset="0"/>
              </a:rPr>
              <a:t>Awdm</a:t>
            </a:r>
            <a:r>
              <a:rPr lang="en-US" dirty="0">
                <a:latin typeface="SutonnyMJ" pitchFamily="2" charset="0"/>
              </a:rPr>
              <a:t> †</a:t>
            </a:r>
            <a:r>
              <a:rPr lang="en-US" dirty="0" err="1">
                <a:latin typeface="SutonnyMJ" pitchFamily="2" charset="0"/>
              </a:rPr>
              <a:t>KvW</a:t>
            </a:r>
            <a:r>
              <a:rPr lang="en-US" dirty="0">
                <a:latin typeface="SutonnyMJ" pitchFamily="2" charset="0"/>
              </a:rPr>
              <a:t> bs-133301 </a:t>
            </a:r>
          </a:p>
          <a:p>
            <a:pPr algn="ctr"/>
            <a:r>
              <a:rPr lang="en-US" dirty="0" smtClean="0">
                <a:latin typeface="SutonnyMJ" pitchFamily="2" charset="0"/>
              </a:rPr>
              <a:t>2025-26 </a:t>
            </a:r>
            <a:r>
              <a:rPr lang="en-US" dirty="0">
                <a:latin typeface="SutonnyMJ" pitchFamily="2" charset="0"/>
              </a:rPr>
              <a:t>A</a:t>
            </a:r>
            <a:r>
              <a:rPr lang="en-US" dirty="0" smtClean="0">
                <a:latin typeface="SutonnyMJ" pitchFamily="2" charset="0"/>
              </a:rPr>
              <a:t>_ ©</a:t>
            </a:r>
            <a:r>
              <a:rPr lang="en-US" dirty="0" err="1">
                <a:latin typeface="SutonnyMJ" pitchFamily="2" charset="0"/>
              </a:rPr>
              <a:t>eQ‡ii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ev‡RU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eivÏ</a:t>
            </a:r>
            <a:r>
              <a:rPr lang="en-US" dirty="0">
                <a:latin typeface="SutonnyMJ" pitchFamily="2" charset="0"/>
              </a:rPr>
              <a:t> (</a:t>
            </a:r>
            <a:r>
              <a:rPr lang="en-US" dirty="0" err="1">
                <a:latin typeface="SutonnyMJ" pitchFamily="2" charset="0"/>
              </a:rPr>
              <a:t>eivÏ</a:t>
            </a:r>
            <a:r>
              <a:rPr lang="en-US" dirty="0">
                <a:latin typeface="SutonnyMJ" pitchFamily="2" charset="0"/>
              </a:rPr>
              <a:t> </a:t>
            </a:r>
            <a:r>
              <a:rPr lang="en-US" dirty="0" err="1">
                <a:latin typeface="SutonnyMJ" pitchFamily="2" charset="0"/>
              </a:rPr>
              <a:t>bs</a:t>
            </a:r>
            <a:r>
              <a:rPr lang="en-US" dirty="0">
                <a:latin typeface="SutonnyMJ" pitchFamily="2" charset="0"/>
              </a:rPr>
              <a:t>- 2</a:t>
            </a:r>
            <a:r>
              <a:rPr lang="en-US" dirty="0" smtClean="0">
                <a:latin typeface="SutonnyMJ" pitchFamily="2" charset="0"/>
              </a:rPr>
              <a:t>)|</a:t>
            </a:r>
            <a:endParaRPr lang="en-US" dirty="0">
              <a:latin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18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93306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" sz="32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Additional Demand Adjustment by HQ</a:t>
            </a:r>
            <a:endParaRPr lang="en" sz="3200" b="1" dirty="0">
              <a:solidFill>
                <a:schemeClr val="accent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pPr marL="609585" algn="ctr"/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  <a:p>
            <a:endParaRPr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749140"/>
              </p:ext>
            </p:extLst>
          </p:nvPr>
        </p:nvGraphicFramePr>
        <p:xfrm>
          <a:off x="582612" y="930117"/>
          <a:ext cx="10984548" cy="42100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1213">
                  <a:extLst>
                    <a:ext uri="{9D8B030D-6E8A-4147-A177-3AD203B41FA5}">
                      <a16:colId xmlns:a16="http://schemas.microsoft.com/office/drawing/2014/main" xmlns="" val="290928939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xmlns="" val="844330606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xmlns="" val="1004075690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xmlns="" val="322052291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xmlns="" val="1605569058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xmlns="" val="2402697574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xmlns="" val="868884824"/>
                    </a:ext>
                  </a:extLst>
                </a:gridCol>
                <a:gridCol w="767935">
                  <a:extLst>
                    <a:ext uri="{9D8B030D-6E8A-4147-A177-3AD203B41FA5}">
                      <a16:colId xmlns:a16="http://schemas.microsoft.com/office/drawing/2014/main" xmlns="" val="3912704021"/>
                    </a:ext>
                  </a:extLst>
                </a:gridCol>
                <a:gridCol w="1436150">
                  <a:extLst>
                    <a:ext uri="{9D8B030D-6E8A-4147-A177-3AD203B41FA5}">
                      <a16:colId xmlns:a16="http://schemas.microsoft.com/office/drawing/2014/main" xmlns="" val="2231333449"/>
                    </a:ext>
                  </a:extLst>
                </a:gridCol>
              </a:tblGrid>
              <a:tr h="4943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অফিসের</a:t>
                      </a:r>
                      <a:r>
                        <a:rPr lang="en-US" sz="1200" dirty="0">
                          <a:effectLst/>
                        </a:rPr>
                        <a:t>/</a:t>
                      </a:r>
                      <a:r>
                        <a:rPr lang="en-US" sz="1200" dirty="0" err="1">
                          <a:effectLst/>
                        </a:rPr>
                        <a:t>কার্যালয়ের</a:t>
                      </a:r>
                      <a:r>
                        <a:rPr lang="en-US" sz="1200" dirty="0">
                          <a:effectLst/>
                        </a:rPr>
                        <a:t>  </a:t>
                      </a:r>
                      <a:r>
                        <a:rPr lang="en-US" sz="1200" dirty="0" err="1">
                          <a:effectLst/>
                        </a:rPr>
                        <a:t>নাম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৩১১১২০১- </a:t>
                      </a:r>
                      <a:r>
                        <a:rPr lang="en-US" sz="1200" dirty="0" err="1">
                          <a:effectLst/>
                        </a:rPr>
                        <a:t>মূল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বেতন</a:t>
                      </a:r>
                      <a:r>
                        <a:rPr lang="en-US" sz="1200" dirty="0">
                          <a:effectLst/>
                        </a:rPr>
                        <a:t> (</a:t>
                      </a:r>
                      <a:r>
                        <a:rPr lang="en-US" sz="1200" dirty="0" err="1">
                          <a:effectLst/>
                        </a:rPr>
                        <a:t>অফিসার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৩১১১২০১- 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ছুটি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নগদায়ন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বেতন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en-US" sz="1100" dirty="0" err="1">
                          <a:effectLst/>
                        </a:rPr>
                        <a:t>অফিসার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74734141"/>
                  </a:ext>
                </a:extLst>
              </a:tr>
              <a:tr h="3368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eivÏ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প্রকত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ব্যয়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Aewkó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AwZwi³ </a:t>
                      </a: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Pvwn`v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eivÏ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প্রকত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ব্যয়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Aewkó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AwZwi³ </a:t>
                      </a:r>
                      <a:r>
                        <a:rPr lang="en-US" sz="1200" dirty="0" err="1" smtClean="0">
                          <a:effectLst/>
                          <a:latin typeface="SutonnyMJ" pitchFamily="2" charset="0"/>
                        </a:rPr>
                        <a:t>Pvwn`v</a:t>
                      </a:r>
                      <a:r>
                        <a:rPr lang="en-US" sz="1200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200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100" dirty="0">
                        <a:effectLst/>
                        <a:latin typeface="SutonnyMJ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12225194"/>
                  </a:ext>
                </a:extLst>
              </a:tr>
              <a:tr h="4953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আঞ্চলিক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পাসপোর্ট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অফিস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ময়মনসিংহ</a:t>
                      </a:r>
                      <a:r>
                        <a:rPr lang="en-US" sz="1200" dirty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171806955"/>
                  </a:ext>
                </a:extLst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ঢাকা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450786145"/>
                  </a:ext>
                </a:extLst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চট্টগ্রাম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রাজশাহী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সিলেট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খুলনা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678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আঞ্চলিক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পাসপোর্ট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 err="1" smtClean="0">
                          <a:effectLst/>
                        </a:rPr>
                        <a:t>অফিস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যাত্রাবাড়ি</a:t>
                      </a:r>
                      <a:r>
                        <a:rPr lang="en-US" sz="1100" dirty="0" smtClean="0">
                          <a:effectLst/>
                        </a:rPr>
                        <a:t>, </a:t>
                      </a:r>
                      <a:r>
                        <a:rPr lang="en-US" sz="1100" dirty="0" err="1" smtClean="0">
                          <a:effectLst/>
                        </a:rPr>
                        <a:t>বরিশাল</a:t>
                      </a:r>
                      <a:r>
                        <a:rPr lang="en-US" sz="1100" dirty="0" smtClean="0">
                          <a:effectLst/>
                        </a:rPr>
                        <a:t>। </a:t>
                      </a:r>
                      <a:endParaRPr lang="en-US" sz="11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923427" y="1922820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929184" y="2383522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0657205" y="1894245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657205" y="238392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339713" y="6013145"/>
            <a:ext cx="1760221" cy="487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Approved by DG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3327" y="2827695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923469" y="3326897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925132" y="3780195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942519" y="4279397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945887" y="4723570"/>
            <a:ext cx="717391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0657205" y="283722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657205" y="3326897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0666730" y="3780195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0666730" y="4269872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0666730" y="4723170"/>
            <a:ext cx="881380" cy="3657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30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-186612" y="2248678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-US" sz="54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Budget Implementation Plan and Progress Report Preparation by Manual </a:t>
            </a:r>
            <a:r>
              <a:rPr lang="en-US" sz="54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System (Yearly in 5 times)  </a:t>
            </a:r>
            <a:endParaRPr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221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988200"/>
              </p:ext>
            </p:extLst>
          </p:nvPr>
        </p:nvGraphicFramePr>
        <p:xfrm>
          <a:off x="657224" y="547140"/>
          <a:ext cx="10864215" cy="61726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2287"/>
                <a:gridCol w="1222734"/>
                <a:gridCol w="1005542"/>
                <a:gridCol w="35405"/>
                <a:gridCol w="1131840"/>
                <a:gridCol w="1121414"/>
                <a:gridCol w="1081379"/>
                <a:gridCol w="911162"/>
                <a:gridCol w="847479"/>
                <a:gridCol w="253926"/>
                <a:gridCol w="821047"/>
              </a:tblGrid>
              <a:tr h="293801"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40" marR="4140" marT="414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40" marR="4140" marT="414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4140" marR="4140" marT="414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40" marR="4140" marT="4140" marB="0" anchor="b"/>
                </a:tc>
                <a:tc gridSpan="6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(অংকসমূহ হাজার টাকায়)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115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as-IN" sz="1050" u="none" strike="noStrike" dirty="0">
                          <a:effectLst/>
                        </a:rPr>
                        <a:t>অফিসের নাম</a:t>
                      </a:r>
                      <a:endParaRPr lang="as-IN" sz="105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as-IN" sz="1050" u="none" strike="noStrike">
                          <a:effectLst/>
                        </a:rPr>
                        <a:t>প্রকৃত খরচের লক্ষ্যমাত্রা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as-IN" sz="1050" u="none" strike="noStrike">
                          <a:effectLst/>
                        </a:rPr>
                        <a:t>মোট বাজেট বরাদ্দ/ প্রাক্কলিত ব্যয় 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as-IN" sz="10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as-IN" sz="1050" u="none" strike="noStrike">
                          <a:effectLst/>
                        </a:rPr>
                        <a:t>মন্তব্য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</a:tr>
              <a:tr h="342300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as-IN" sz="1050" u="none" strike="noStrike">
                          <a:effectLst/>
                        </a:rPr>
                        <a:t>প্রথম</a:t>
                      </a:r>
                      <a:br>
                        <a:rPr lang="as-IN" sz="1050" u="none" strike="noStrike">
                          <a:effectLst/>
                        </a:rPr>
                      </a:br>
                      <a:r>
                        <a:rPr lang="as-IN" sz="1050" u="none" strike="noStrike">
                          <a:effectLst/>
                        </a:rPr>
                        <a:t>কোয়ার্টার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as-IN" sz="10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050" u="none" strike="noStrike" dirty="0">
                          <a:effectLst/>
                        </a:rPr>
                        <a:t>দ্বিতীয় কোয়ার্টার</a:t>
                      </a:r>
                      <a:endParaRPr lang="as-IN" sz="105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050" u="none" strike="noStrike" dirty="0">
                          <a:effectLst/>
                        </a:rPr>
                        <a:t>তৃতীয় কোয়ার্টার</a:t>
                      </a:r>
                      <a:endParaRPr lang="as-IN" sz="105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s-IN" sz="1050" u="none" strike="noStrike" dirty="0">
                          <a:effectLst/>
                        </a:rPr>
                        <a:t>চতুর্থ কোয়ার্টার</a:t>
                      </a:r>
                      <a:endParaRPr lang="as-IN" sz="105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6842"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as-IN" sz="1400" u="none" strike="noStrike">
                          <a:effectLst/>
                        </a:rPr>
                        <a:t>প্রধান কার্য়ালয়</a:t>
                      </a:r>
                      <a:endParaRPr lang="as-IN" sz="14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as-IN" sz="1400" u="none" strike="noStrike" dirty="0">
                          <a:effectLst/>
                          <a:hlinkClick r:id="rId2" action="ppaction://hlinkfile"/>
                        </a:rPr>
                        <a:t>প্রধান কার্যালয়</a:t>
                      </a:r>
                      <a:endParaRPr lang="as-IN" sz="14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প্রাক্কলন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৪২১৭৩৮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২০৮৪০৮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২১৯৮৩৮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৩৩৬১৯৩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১১৮৬১৭৭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৩৮৬৩৭২</a:t>
                      </a:r>
                      <a:endParaRPr lang="as-IN" sz="105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৩৮৬৩৭২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115">
                <a:tc rowSpan="2" gridSpan="2">
                  <a:txBody>
                    <a:bodyPr/>
                    <a:lstStyle/>
                    <a:p>
                      <a:pPr algn="l" fontAlgn="b"/>
                      <a:r>
                        <a:rPr lang="as-IN" sz="1400" u="none" strike="noStrike" dirty="0">
                          <a:effectLst/>
                          <a:hlinkClick r:id="rId3" action="ppaction://hlinkfile"/>
                        </a:rPr>
                        <a:t>ডাটা এন্ড পার্সোনালাইজেশন সেন্টার, ঢাকা</a:t>
                      </a:r>
                      <a:endParaRPr lang="as-IN" sz="14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প্রাক্কলন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050" u="none" strike="noStrike" dirty="0">
                          <a:effectLst/>
                        </a:rPr>
                        <a:t>১৬৮৬০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050" u="none" strike="noStrike" dirty="0">
                          <a:effectLst/>
                        </a:rPr>
                        <a:t>২৫৮৫৪২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050" u="none" strike="noStrike">
                          <a:effectLst/>
                        </a:rPr>
                        <a:t>২১৬৮১৫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050" u="none" strike="noStrike" dirty="0">
                          <a:effectLst/>
                        </a:rPr>
                        <a:t>১২২৮৩৯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৬১৫০৫৬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050" u="none" strike="noStrike">
                          <a:effectLst/>
                        </a:rPr>
                        <a:t>১৬৮৬০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115">
                <a:tc rowSpan="2" gridSpan="2">
                  <a:txBody>
                    <a:bodyPr/>
                    <a:lstStyle/>
                    <a:p>
                      <a:pPr algn="l" fontAlgn="b"/>
                      <a:r>
                        <a:rPr lang="as-IN" sz="1400" u="none" strike="noStrike" dirty="0">
                          <a:effectLst/>
                        </a:rPr>
                        <a:t>ডিজাস্টার রিকভারি সেন্টার (ডিআরসি), যশোর</a:t>
                      </a:r>
                      <a:endParaRPr lang="as-IN" sz="14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প্রাক্কলন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৭৩০৪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৪৫৯১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৪৭৪৫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৪৯৭৬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২১৬১৬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৬৩৮০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৬৩৮০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6842"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as-IN" sz="1400" u="none" strike="noStrike">
                          <a:effectLst/>
                        </a:rPr>
                        <a:t>বিভাগীয় পাসপোর্ট ও ভিসা অফিসসমূহ</a:t>
                      </a:r>
                      <a:endParaRPr lang="as-IN" sz="14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115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as-IN" sz="1400" u="none" strike="noStrike">
                          <a:effectLst/>
                        </a:rPr>
                        <a:t>বিভাগীয় পাসপোর্ট ও ভিসা অফিস, ঢাকা</a:t>
                      </a:r>
                      <a:endParaRPr lang="as-IN" sz="14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প্রাক্কলন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১০৭৭৮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১০৭৩৭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১০৪৯০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১০৫৯১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৪২৫৯৬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৫৮৫০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৫৮৫০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115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as-IN" sz="1400" u="none" strike="noStrike">
                          <a:effectLst/>
                        </a:rPr>
                        <a:t>বিভাগীয় পাসপোর্ট ও ভিসা অফিস, চট্রগ্রাম</a:t>
                      </a:r>
                      <a:endParaRPr lang="as-IN" sz="14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প্রাক্কলন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৬৩০২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৫৪৭৬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৬৪২৫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৭৩৭৫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২৫৫৭৮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৬৬৬৫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৬৬৬৫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115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as-IN" sz="1400" u="none" strike="noStrike">
                          <a:effectLst/>
                        </a:rPr>
                        <a:t>বিভাগীয় পাসপোর্ট ও ভিসা অফিস, খুলনা</a:t>
                      </a:r>
                      <a:endParaRPr lang="as-IN" sz="14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প্রাক্কলন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৩৮৪২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৩৮৪২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৩৮৪২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৩৮৪২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১৫৩৬৮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৩৬৫১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৩৬৫১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115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as-IN" sz="1400" u="none" strike="noStrike">
                          <a:effectLst/>
                        </a:rPr>
                        <a:t>বিভাগীয় পাসপোর্ট ও ভিসা অফিস, রাজশাহী</a:t>
                      </a:r>
                      <a:endParaRPr lang="as-IN" sz="14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প্রাক্কলন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৩৩৭৪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৩২৭৭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৩৮০৪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৪০১১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১৪৪৬৬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২৫০৬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২৫০৬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115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as-IN" sz="1400" u="none" strike="noStrike" dirty="0">
                          <a:effectLst/>
                        </a:rPr>
                        <a:t>বিভাগীয় পাসপোর্ট ও ভিসা অফিস, সিলেট</a:t>
                      </a:r>
                      <a:endParaRPr lang="as-IN" sz="14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প্রাক্কলন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৫৬০৮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৫১৮৬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৬১৪৩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৬৪৮০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২৩৪১৭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৪৭১০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৪৭১০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115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as-IN" sz="1400" u="none" strike="noStrike">
                          <a:effectLst/>
                        </a:rPr>
                        <a:t>বিভাগীয় পাসপোর্ট ও ভিসা অফিস, রংপুর</a:t>
                      </a:r>
                      <a:endParaRPr lang="as-IN" sz="14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প্রাক্কলন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২৯৬৬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২৮০৯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২৭৭০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৩৬৮৮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১২২৩৩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১৮৯৪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১৮৯৪</a:t>
                      </a:r>
                      <a:endParaRPr lang="as-IN" sz="105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115">
                <a:tc rowSpan="2" gridSpan="2">
                  <a:txBody>
                    <a:bodyPr/>
                    <a:lstStyle/>
                    <a:p>
                      <a:pPr algn="l" fontAlgn="b"/>
                      <a:r>
                        <a:rPr lang="as-IN" sz="1400" u="none" strike="noStrike">
                          <a:effectLst/>
                        </a:rPr>
                        <a:t>বিভাগীয় পাসপোর্র্ট ও ভিসা অফিস, বরিশাল</a:t>
                      </a:r>
                      <a:endParaRPr lang="as-IN" sz="14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b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প্রাক্কলন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৩৮০৬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৩৫৬৬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৩৮০৬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৩৮৯১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১৫০৬৯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৩০৪৪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৩০৪৪</a:t>
                      </a:r>
                      <a:endParaRPr lang="as-IN" sz="105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as-IN" sz="1400" u="none" strike="noStrike" dirty="0">
                          <a:effectLst/>
                        </a:rPr>
                        <a:t>আঞ্চলিক পাসপোর্ট অফিসসমূহ</a:t>
                      </a:r>
                      <a:endParaRPr lang="as-IN" sz="14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প্রাক্কলন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১৫০৪৪০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১৯২৩৯২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১৯১০৭৮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১৯৭৫৯১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 dirty="0">
                          <a:effectLst/>
                        </a:rPr>
                        <a:t>৭৩১৫০১</a:t>
                      </a:r>
                      <a:endParaRPr lang="as-IN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প্রকৃত খরচ</a:t>
                      </a:r>
                      <a:endParaRPr lang="as-IN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১১৮৭২০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050" u="none" strike="noStrike">
                          <a:effectLst/>
                        </a:rPr>
                        <a:t>১১৮৭২০</a:t>
                      </a:r>
                      <a:endParaRPr lang="as-IN" sz="105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as-IN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সর্বমোট</a:t>
                      </a:r>
                      <a:endParaRPr lang="as-IN" sz="105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rowSpan="2" hMerge="1">
                  <a:txBody>
                    <a:bodyPr/>
                    <a:lstStyle/>
                    <a:p>
                      <a:pPr algn="r" fontAlgn="ctr"/>
                      <a:endParaRPr lang="as-IN" sz="10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প্রাক্কলন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৬৩৩০১৮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৬৯৮৮২৬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৬৬৯৭৫৬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৭০১৪৭৭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as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২৭০৩০৭৭</a:t>
                      </a: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657">
                <a:tc gridSpan="2" vMerge="1">
                  <a:txBody>
                    <a:bodyPr/>
                    <a:lstStyle/>
                    <a:p>
                      <a:pPr algn="l" fontAlgn="ctr"/>
                      <a:endParaRPr lang="as-IN" sz="700" b="1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 vMerge="1">
                  <a:txBody>
                    <a:bodyPr/>
                    <a:lstStyle/>
                    <a:p>
                      <a:pPr algn="r" fontAlgn="ctr"/>
                      <a:endParaRPr lang="as-IN" sz="1000" b="1" i="0" u="none" strike="noStrike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as-IN" sz="1200" b="1" i="0" u="none" strike="noStrike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প্রকৃত খরচ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200" b="1" i="0" u="none" strike="noStrike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৫৫৬৬৫২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200" b="1" i="0" u="none" strike="noStrike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০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200" b="1" i="0" u="none" strike="noStrike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০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200" b="1" i="0" u="none" strike="noStrike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০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as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</a:rPr>
                        <a:t>৫৩৯৭৯২</a:t>
                      </a: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4140" marR="4140" marT="414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57750" y="133350"/>
            <a:ext cx="269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s-IN" dirty="0"/>
              <a:t>পরিচালন ব্যয়ের সামারী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81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310327" y="20434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45096"/>
              </p:ext>
            </p:extLst>
          </p:nvPr>
        </p:nvGraphicFramePr>
        <p:xfrm>
          <a:off x="385010" y="210260"/>
          <a:ext cx="11328936" cy="6528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7399"/>
                <a:gridCol w="2916455"/>
                <a:gridCol w="1970602"/>
                <a:gridCol w="1353987"/>
                <a:gridCol w="1353987"/>
                <a:gridCol w="1234014"/>
                <a:gridCol w="976928"/>
                <a:gridCol w="685564"/>
              </a:tblGrid>
              <a:tr h="97358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 err="1" smtClean="0">
                          <a:effectLst/>
                          <a:latin typeface="SutonnyMJ" pitchFamily="2" charset="0"/>
                        </a:rPr>
                        <a:t>Bwg‡MÖkb</a:t>
                      </a:r>
                      <a: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  <a:t> I </a:t>
                      </a:r>
                      <a:r>
                        <a:rPr lang="en-US" sz="2000" b="1" u="none" strike="noStrike" dirty="0" err="1" smtClean="0">
                          <a:effectLst/>
                          <a:latin typeface="SutonnyMJ" pitchFamily="2" charset="0"/>
                        </a:rPr>
                        <a:t>cvm‡cvU</a:t>
                      </a:r>
                      <a: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  <a:t>© </a:t>
                      </a:r>
                      <a:r>
                        <a:rPr lang="en-US" sz="2000" b="1" u="none" strike="noStrike" dirty="0" err="1" smtClean="0">
                          <a:effectLst/>
                          <a:latin typeface="SutonnyMJ" pitchFamily="2" charset="0"/>
                        </a:rPr>
                        <a:t>Awa`ß‡ii</a:t>
                      </a:r>
                      <a: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  <a:t/>
                      </a:r>
                      <a:b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</a:br>
                      <a: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  <a:t>2023-24 A_© </a:t>
                      </a:r>
                      <a:r>
                        <a:rPr lang="en-US" sz="2000" b="1" u="none" strike="noStrike" dirty="0" err="1" smtClean="0">
                          <a:effectLst/>
                          <a:latin typeface="SutonnyMJ" pitchFamily="2" charset="0"/>
                        </a:rPr>
                        <a:t>eQ‡ii</a:t>
                      </a:r>
                      <a: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2000" b="1" u="none" strike="noStrike" dirty="0" err="1" smtClean="0">
                          <a:effectLst/>
                          <a:latin typeface="SutonnyMJ" pitchFamily="2" charset="0"/>
                        </a:rPr>
                        <a:t>cÖK</a:t>
                      </a:r>
                      <a: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  <a:t>…Z </a:t>
                      </a:r>
                      <a:r>
                        <a:rPr lang="en-US" sz="2000" b="1" u="none" strike="noStrike" dirty="0" err="1" smtClean="0">
                          <a:effectLst/>
                          <a:latin typeface="SutonnyMJ" pitchFamily="2" charset="0"/>
                        </a:rPr>
                        <a:t>LiP</a:t>
                      </a:r>
                      <a: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  <a:t> I DØ„Ë A_© </a:t>
                      </a:r>
                      <a:r>
                        <a:rPr lang="en-US" sz="2000" b="1" u="none" strike="noStrike" dirty="0" err="1" smtClean="0">
                          <a:effectLst/>
                          <a:latin typeface="SutonnyMJ" pitchFamily="2" charset="0"/>
                        </a:rPr>
                        <a:t>mgc</a:t>
                      </a:r>
                      <a: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  <a:t>©‡bi </a:t>
                      </a:r>
                      <a:r>
                        <a:rPr lang="en-US" sz="2000" b="1" u="none" strike="noStrike" dirty="0" err="1" smtClean="0">
                          <a:effectLst/>
                          <a:latin typeface="SutonnyMJ" pitchFamily="2" charset="0"/>
                        </a:rPr>
                        <a:t>we¯ÍvwiZ</a:t>
                      </a:r>
                      <a: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2000" b="1" u="none" strike="noStrike" dirty="0" err="1" smtClean="0">
                          <a:effectLst/>
                          <a:latin typeface="SutonnyMJ" pitchFamily="2" charset="0"/>
                        </a:rPr>
                        <a:t>wnmve</a:t>
                      </a:r>
                      <a:r>
                        <a:rPr lang="en-US" sz="2000" b="1" u="none" strike="noStrike" dirty="0" smtClean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2000" b="1" u="none" strike="noStrike" dirty="0" err="1" smtClean="0">
                          <a:effectLst/>
                          <a:latin typeface="SutonnyMJ" pitchFamily="2" charset="0"/>
                        </a:rPr>
                        <a:t>weeiY</a:t>
                      </a:r>
                      <a:r>
                        <a:rPr lang="en-US" sz="2400" b="1" u="none" strike="noStrike" dirty="0" err="1" smtClean="0">
                          <a:effectLst/>
                          <a:latin typeface="SutonnyMJ" pitchFamily="2" charset="0"/>
                        </a:rPr>
                        <a:t>x</a:t>
                      </a:r>
                      <a:r>
                        <a:rPr lang="en-US" sz="2400" b="1" u="none" strike="noStrike" dirty="0" smtClean="0">
                          <a:effectLst/>
                          <a:latin typeface="SutonnyMJ" pitchFamily="2" charset="0"/>
                        </a:rPr>
                        <a:t>            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4385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 gridSpan="2">
                  <a:txBody>
                    <a:bodyPr/>
                    <a:lstStyle/>
                    <a:p>
                      <a:endParaRPr lang="en-US" sz="1600"/>
                    </a:p>
                  </a:txBody>
                  <a:tcPr marL="5722" marR="5722" marT="5722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 gridSpan="3">
                  <a:txBody>
                    <a:bodyPr/>
                    <a:lstStyle/>
                    <a:p>
                      <a:pPr algn="r" fontAlgn="t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(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AsKmg~n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nvRvi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UvKvq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3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µ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wgK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bs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Awd‡mi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bvg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ms‡kvwaZ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ev‡RU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eivÏ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cªK…Z LiP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DØ„Ë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A_© e¨‡qi nvi (%)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gšÍe¨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</a:tr>
              <a:tr h="234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</a:tr>
              <a:tr h="2343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gridSpan="7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cÖavb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Kvh©vjq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4385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as-IN" sz="1600" u="none" strike="noStrike" dirty="0" smtClean="0">
                          <a:effectLst/>
                          <a:hlinkClick r:id="rId3" action="ppaction://hlinkfile"/>
                        </a:rPr>
                        <a:t>প্রধান কার্যালয়</a:t>
                      </a:r>
                      <a:endParaRPr lang="as-IN" sz="1600" b="0" i="0" u="none" strike="noStrike" dirty="0"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1059353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573139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486214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54.10274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</a:tr>
              <a:tr h="3412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WvUv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GÛ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cv‡m©vbvjvB‡Rkb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†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m›Uvi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XvKv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253600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175246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78354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69.10331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</a:tr>
              <a:tr h="2343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wWRv÷vi wiKfvwi †m›Uvi, h‡kvi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14161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7724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6437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54.54417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</a:tr>
              <a:tr h="2343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gridSpan="7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wefvMxq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cvm‡cvU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© I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wfmv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Awdmmg~n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1604">
                <a:tc rowSpan="7"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wefvMxq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cvm‡cvU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© I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wfmv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Awdm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XvKv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54617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37129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17488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67.98067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</a:tr>
              <a:tr h="3716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wefvMxq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cvm‡cvU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© I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wfmv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Awdm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PÆMÖvg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20240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18741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1499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92.59387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</a:tr>
              <a:tr h="3716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wefvMxq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cvm‡cvU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© I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wfmv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Awdm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,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Lyjbv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15000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10542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4458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70.28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</a:tr>
              <a:tr h="3716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wefvMxq cvm‡cvU© I wfmv Awdm, ivRkvnx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12500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10144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2356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81.152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</a:tr>
              <a:tr h="3716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wefvMxq cvm‡cvU© I wfmv Awdm, wm‡jU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19330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16426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2904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84.97672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</a:tr>
              <a:tr h="3716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wefvMxq cvm‡cvU© I wfmv Awdm, iscyi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9860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8987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873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91.14604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</a:tr>
              <a:tr h="3716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wefvMxq cvm‡cvU© I wfmv Awdm, iwekvj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11250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10644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606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94.61333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</a:tr>
              <a:tr h="2343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b"/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AvÂwjK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cvm‡cvU</a:t>
                      </a:r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© </a:t>
                      </a:r>
                      <a:r>
                        <a:rPr lang="en-US" sz="1600" u="none" strike="noStrike" dirty="0" err="1">
                          <a:effectLst/>
                          <a:latin typeface="SutonnyMJ" pitchFamily="2" charset="0"/>
                        </a:rPr>
                        <a:t>Awdmmg~n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495263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390182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105081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78.78279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</a:tr>
              <a:tr h="371604">
                <a:tc gridSpan="3">
                  <a:txBody>
                    <a:bodyPr/>
                    <a:lstStyle/>
                    <a:p>
                      <a:pPr algn="r" fontAlgn="t"/>
                      <a:r>
                        <a:rPr lang="en-US" sz="1600" b="1" u="none" strike="noStrike" dirty="0">
                          <a:effectLst/>
                          <a:latin typeface="SutonnyMJ" pitchFamily="2" charset="0"/>
                        </a:rPr>
                        <a:t>me©‡</a:t>
                      </a:r>
                      <a:r>
                        <a:rPr lang="en-US" sz="1600" b="1" u="none" strike="noStrike" dirty="0" err="1">
                          <a:effectLst/>
                          <a:latin typeface="SutonnyMJ" pitchFamily="2" charset="0"/>
                        </a:rPr>
                        <a:t>gvU</a:t>
                      </a:r>
                      <a:r>
                        <a:rPr lang="en-US" sz="1600" b="1" u="none" strike="noStrike" dirty="0">
                          <a:effectLst/>
                          <a:latin typeface="SutonnyMJ" pitchFamily="2" charset="0"/>
                        </a:rPr>
                        <a:t>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u="none" strike="noStrike" dirty="0">
                          <a:effectLst/>
                          <a:latin typeface="SutonnyMJ" pitchFamily="2" charset="0"/>
                        </a:rPr>
                        <a:t>1965174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u="none" strike="noStrike" dirty="0">
                          <a:effectLst/>
                          <a:latin typeface="SutonnyMJ" pitchFamily="2" charset="0"/>
                        </a:rPr>
                        <a:t>1258904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u="none" strike="noStrike" dirty="0">
                          <a:effectLst/>
                          <a:latin typeface="SutonnyMJ" pitchFamily="2" charset="0"/>
                        </a:rPr>
                        <a:t>706270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u="none" strike="noStrike" dirty="0">
                          <a:effectLst/>
                          <a:latin typeface="SutonnyMJ" pitchFamily="2" charset="0"/>
                        </a:rPr>
                        <a:t>64.06069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SutonnyMJ" pitchFamily="2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utonnyMJ" pitchFamily="2" charset="0"/>
                      </a:endParaRPr>
                    </a:p>
                  </a:txBody>
                  <a:tcPr marL="5722" marR="5722" marT="5722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04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93306"/>
            <a:ext cx="12191999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algn="ctr"/>
            <a:r>
              <a:rPr lang="en-US" sz="3200" b="1" dirty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Revenue </a:t>
            </a:r>
            <a:r>
              <a:rPr lang="en-US" sz="32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Preparation</a:t>
            </a:r>
            <a:endParaRPr lang="en-US"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6" name="object 3"/>
          <p:cNvSpPr txBox="1"/>
          <p:nvPr/>
        </p:nvSpPr>
        <p:spPr>
          <a:xfrm>
            <a:off x="889270" y="1943837"/>
            <a:ext cx="10516667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Revenue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Budget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Preparation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Revised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Revenue Budget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Preparation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Revenue </a:t>
            </a: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Budget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Implementation Plan &amp; Progress Report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(Yearly in 5 times)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file"/>
              </a:rPr>
              <a:t>Report of Revenue Sent to 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file"/>
              </a:rPr>
              <a:t>Ministry</a:t>
            </a:r>
            <a:r>
              <a:rPr 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(Every month)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84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1371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Goals</a:t>
            </a:r>
            <a:endParaRPr lang="en-US" sz="40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01614" y="1690527"/>
            <a:ext cx="6208945" cy="58191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Previous Data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1614" y="2553720"/>
            <a:ext cx="6208945" cy="58191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Quick Budget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1614" y="3480231"/>
            <a:ext cx="6208945" cy="58191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Safe and Faster than Existing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01614" y="4345211"/>
            <a:ext cx="6208945" cy="581918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Reduce Human Error</a:t>
            </a:r>
          </a:p>
        </p:txBody>
      </p:sp>
    </p:spTree>
    <p:extLst>
      <p:ext uri="{BB962C8B-B14F-4D97-AF65-F5344CB8AC3E}">
        <p14:creationId xmlns:p14="http://schemas.microsoft.com/office/powerpoint/2010/main" val="84728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1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1371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Future Plan</a:t>
            </a:r>
            <a:endParaRPr lang="en-US" sz="36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001613" y="1660850"/>
            <a:ext cx="6208945" cy="58191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Stock management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1613" y="2559115"/>
            <a:ext cx="6208945" cy="58191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Bill Management System </a:t>
            </a:r>
            <a:endParaRPr lang="en-US" sz="28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01613" y="3457380"/>
            <a:ext cx="6208945" cy="58191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Audit Management System</a:t>
            </a:r>
            <a:endParaRPr lang="en-US" sz="28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36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10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54984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Technical Site Discussion</a:t>
            </a:r>
            <a:endParaRPr lang="en-US" sz="5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54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" y="232456"/>
            <a:ext cx="1210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E-Budget Workflow</a:t>
            </a:r>
            <a:endParaRPr lang="en-US"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674" y="748527"/>
            <a:ext cx="8453637" cy="602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56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30628" y="518094"/>
            <a:ext cx="12257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Architecture</a:t>
            </a:r>
            <a:endParaRPr lang="as-IN" sz="3200" b="1" dirty="0">
              <a:latin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13" y="1655795"/>
            <a:ext cx="9095389" cy="348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6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2674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System Requirements</a:t>
            </a:r>
            <a:endParaRPr lang="en-US" sz="32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84" y="1990299"/>
            <a:ext cx="3234398" cy="23480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013" y="1990299"/>
            <a:ext cx="2350855" cy="23508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8" name="TextBox 7"/>
          <p:cNvSpPr txBox="1"/>
          <p:nvPr/>
        </p:nvSpPr>
        <p:spPr>
          <a:xfrm>
            <a:off x="738954" y="4574232"/>
            <a:ext cx="2230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Computer System</a:t>
            </a:r>
            <a:endParaRPr lang="en-US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02169" y="4574232"/>
            <a:ext cx="2802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Internet Connectivity</a:t>
            </a:r>
            <a:endParaRPr lang="en-US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43585" y="4574232"/>
            <a:ext cx="3280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Cloud or Dedicated Server</a:t>
            </a:r>
            <a:endParaRPr lang="en-US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378" y="1905622"/>
            <a:ext cx="4257222" cy="243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9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7506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64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2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6299</TotalTime>
  <Words>2631</Words>
  <Application>Microsoft Office PowerPoint</Application>
  <PresentationFormat>Widescreen</PresentationFormat>
  <Paragraphs>1427</Paragraphs>
  <Slides>36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Arial</vt:lpstr>
      <vt:lpstr>Calibri</vt:lpstr>
      <vt:lpstr>Calibri (Body)</vt:lpstr>
      <vt:lpstr>Calibri Light</vt:lpstr>
      <vt:lpstr>Nikosh</vt:lpstr>
      <vt:lpstr>SutonnyMJ</vt:lpstr>
      <vt:lpstr>Times New Roman</vt:lpstr>
      <vt:lpstr>Verdana</vt:lpstr>
      <vt:lpstr>Vrinda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 PC</dc:creator>
  <cp:lastModifiedBy>Microsoft account</cp:lastModifiedBy>
  <cp:revision>1552</cp:revision>
  <dcterms:created xsi:type="dcterms:W3CDTF">2023-09-15T09:29:37Z</dcterms:created>
  <dcterms:modified xsi:type="dcterms:W3CDTF">2025-11-25T10:12:47Z</dcterms:modified>
</cp:coreProperties>
</file>